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aim" id="{f4ca400d-e3b4-4e0a-5786-67d22f46ca86}">
          <p14:sldIdLst>
            <p14:sldId id="256"/>
            <p14:sldId id="257"/>
            <p14:sldId id="258"/>
          </p14:sldIdLst>
        </p14:section>
        <p14:section name="Foundation" id="{17c2d7d8-b7a1-0f72-f1d6-400df6491585}">
          <p14:sldIdLst>
            <p14:sldId id="259"/>
            <p14:sldId id="260"/>
            <p14:sldId id="261"/>
            <p14:sldId id="262"/>
            <p14:sldId id="263"/>
          </p14:sldIdLst>
        </p14:section>
        <p14:section name="Learning the mismatch" id="{a0d2c822-5f72-9fed-73ff-a45223accff0}">
          <p14:sldIdLst>
            <p14:sldId id="264"/>
            <p14:sldId id="265"/>
            <p14:sldId id="266"/>
            <p14:sldId id="267"/>
            <p14:sldId id="268"/>
          </p14:sldIdLst>
        </p14:section>
        <p14:section name="Plan and summary" id="{57e66443-746c-f3cb-da8a-431d71f740e3}">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our progress review. I will cover four things: the problem and our research question, the simulator and how we validated it against published results, our results on learning the error of the physics model, and the plan for the remaining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problem. A quadrotor has no spare actuator: its four thrusts control exactly four things, height, roll, pitch and yaw. The propellers also twist the body with small reaction torques, and in normal flight these cancel because two propellers spin each way. When one rotor fails, they no longer cancel, so the drone cannot avoid spinning. Mueller and D'Andrea showed that this is not the end. If we give up the heading, the remaining three rotors can hold the drone in a steady spin of about 19 radians per second about an axis tilted 16 degrees, like a spinning top. They called it the relaxed hover, proved it is controllable and flew it on a real drone.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is there still a problem? A controller is only as good as its model. The Mueller and D'Andrea model captures the main spinning motion, but it misses real effects: in their flights the drone produced less thrust than expected while spinning fast and spun 20 to 27 percent slower than predicted, inertias are never known exactly, and motor speed varies. A controller built on the model then settles with a steady error. Our research question is therefore: can a model that learns only this mismatch, on top of the physics model, predict the drone more accurately and give a smaller steady error in MPC than the physics model alone, or than a Koopman model that learns everything? Koopman methods describe the state by many nonlinear features, here all pairwise products, and fit a linear model on them by least squares. We use the same tools to learn the one-step error of the physics model. The learned correction is evaluated outside the MPC optimization, so the MPC stays a convex quadratic program. Residual Koopman models exist for healthy drones and other robots, but we did not find them for the spinning regime after complete rotor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wrote our own simulator in Python. It is a full six degree of freedom rigid body with the rotor gyroscopic terms from the paper, actuator limits, and motor lag. The key state for the failed vehicle is the reduced attitude n: the vertical direction expressed in body axes. Because the vehicle spins, we control this direction rather than the full attitude. Every vehicle parameter comes from the Mueller and D'Andrea paper, so we can compare against their numbers directly. For the learning experiments we also build "truth" plants with effects the nominal model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trusting any result we checked the simulator against published numbers. The two-rotor and three-rotor-loss equilibria from Mueller and D'Andrea's ICRA paper match every digit they published. The three-rotor case is a strong check because it uses all the gyroscopic terms. For the one-rotor case, thrusts, yaw rate and the vertical component of the axis match within half a percent, but the pitch rate and tilt are about six and five percent lower; we found that the paper's own published values leave a residual in its own equation 12, so that one published case is slightly inconsistent. We also wrote an independent implementation of their more detailed IJRR model and reproduced all five published hover cases within 4 percent, and matched a second drone, the Bebop 2, from Sun et al. Finally, against flight data: with the thrust the flight actually used, read from their Figure 4, our model spins up to 10 radians per second in 0.65 seconds, against 0.62 in flight. The spin-up time depends strongly on that thrust, which is why we read it from the flight data rather than assuming half the weight per rotor.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equilibrium the failed vehicle must reach. With rotor 4 gone, the two side rotors produce equal thrust and the opposite rotor about half of it. The vehicle then spins at about 19.6 radians per second about an axis tilted 16 degrees from the body z axis, and the centre of mass moves on a circle of only about 7 millimetres. The figure shows how the equilibrium changes with the thrust ratio; it reproduces the paper's Figure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Linearizing about the spinning equilibrium in body coordinates gives a linear time-invariant model. The open loop has two undamped oscillations, at 10 and 19.6 radians per second, the slow yaw mode, and the altitude double integrator. It is fully controllable from the three rotors, which reproduces the paper's result. On observability: gyros alone cannot see tilt or altitude. A small finding of ours: because the spinning equilibrium is tilted, vertical acceleration depends on tilt to first order, so gyro plus barometer is enough in principle. But with realistic sensor noise the observability Gramian shows it is about 2,700 times weaker than measuring tilt directly, so it is a structural property, not a practical estimator.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designed two LQR controllers: a normal hover controller, and a failure-mode controller at the spinning equilibrium using the paper's weights, with motor states and altitude added. On the full nonlinear model with motor lag and thrust limits, the failure controller recovers from a perturbed start: the altitude settles in 1.8 seconds, the tilt in 2.1 and the yaw rate in 2.5. One number to note: the failure controller tolerates only about 18 milliseconds of pure input delay, compared with 40 for the healthy one. The least-damped mode is the oscillation at the spin frequency, with a damping ratio of about 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our approach: learn only the mismatch of the physics model, and use it inside MPC.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 three predictors on the same data, exactly as proposed. The analytical model is the Mueller and D'Andrea linearization with no learning. Full-state EDMDc learns everything from data with a quadratic dictionary of 55 lifted states. The residual model keeps the physics and learns only the one-step error, clipped to a bound, as in Todde et al. 2026. To avoid learning our own code back, the data come from a "truth" plant with effects the physics model does not have. We test on held-out episodes from the same plant and from a different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prediction result. On held-out episodes from the training plant, the residual model has the lowest error of the three models from 100 milliseconds on, and is the best predictor overall from 100 milliseconds to one second; at shorter horizons the full-state model is better, about two and a half times at 20 milliseconds. At one second the residual error is 0.64, against 0.91 for full-state EDMDc and 7.1 for the analytical model, which is worse than simply assuming nothing changes, because the unmodelled thrust loss makes it drift. Our proposal claimed that full-state EDMDc is unstable; on the failed vehicle we confirm that it has eigenvalues outside the unit circle and that it falls behind the no-change baseline by two seconds. At two seconds even the residual model is behind no-change: long open-loop horizons need feedback, which is why the MPC re-plans every 5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results, one good and one bad. Good: the residual model needs less data. With only 10 short episodes it already beats the full-state model trained on 40. That matters because real failure data are scarce: failed flights tend to end in crashes. Bad: neither learned model generalizes to a plant with different parameters. On the held-out plant both are worse than the physics model alone. Training on randomized plants helps the residual model on the new plant only up to about 100 milliseconds, and makes both models worse on the training plant, because a static model cannot tell from a single state which vehicle it is on. This motivates our next step: adapt the residual online. Since the residual is linear in its parameters, recursive least squares is a natural, cheap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in closed loop. We built a linear MPC on the analytical model, and the same MPC with the learned residual added as a measured disturbance, evaluated outside the optimization so the QP stays convex. On the training plant, the mismatch causes a steady altitude error of about 29 centimetres for LQR and analytical MPC. The residual Koopman MPC cuts it to 19 centimetres, a 32 percent reduction, and it helps for each separate mismatch effect of that plant. On the held-out plant it helps overall, but when we remove that plant's thrust loss it makes the error 47 percent larger, which is the generalization problem again. The solver needs under a millisecond per step; our modelling layer adds overhead, so a real-time version would call the solver directly. Honestly, the most important missing baseline is integral action, or offset-free MPC, which in theory removes a constant bias completely; we will compare against it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up to the final presentation on 31 October and the final report on 13 November. We still owe the second controller from the proposal, MPC on the full-state Koopman model, and the classical integral-action baseline. Then we address the main weakness, generalization, with online adaptation: the residual is linear in its parameters, so recursive least squares is a natural, cheap choice. We will also make the truth plant more realistic with air-relative thrust and train the residual on spin-up transients. The main risk is that online adaptation needs richer data than a single flight gives; the fallback is a residual that also uses a short history of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Our simulator is validated against three papers and against the flight spin-up time. Learning only the error of the physics model gives the best predictions from 100 milliseconds to one second, and with 10 training episodes it beats a full Koopman model trained on 40. Inside MPC it cuts the altitude bias by a third, but it does not yet generalize to a different vehicle, and online adaptation is our next step.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with the key references, in case of questions on sources. The full bibliography 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rtlCol="0"/>
          <a:lstStyle>
            <a:lvl1pPr indent="0" marL="0">
              <a:buNone/>
              <a:defRPr lang="en-US" sz="1200" b="1" spc="1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EE650 · Progress review</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10515600" cy="365760"/>
          </a:xfrm>
          <a:prstGeom prst="rect">
            <a:avLst/>
          </a:prstGeom>
          <a:noFill/>
          <a:ln/>
        </p:spPr>
        <p:txBody>
          <a:bodyPr wrap="square" rtlCol="0"/>
          <a:lstStyle>
            <a:lvl1pPr indent="0" marL="0">
              <a:buNone/>
              <a:defRPr lang="en-US" sz="1400" b="1" spc="100" kern="0" dirty="0">
                <a:solidFill>
                  <a:schemeClr val="accent3"/>
                </a:solidFill>
              </a:defRPr>
            </a:lvl1pPr>
          </a:lstStyle>
          <a:p>
            <a:pPr indent="0" marL="0">
              <a:buNone/>
            </a:pPr>
            <a:endParaRPr lang="en-US" sz="1400" dirty="0"/>
          </a:p>
        </p:txBody>
      </p:sp>
      <p:sp>
        <p:nvSpPr>
          <p:cNvPr id="3" name="Text 0"/>
          <p:cNvSpPr/>
          <p:nvPr>
            <p:ph idx="101" type="title" hasCustomPrompt="1"/>
          </p:nvPr>
        </p:nvSpPr>
        <p:spPr>
          <a:xfrm>
            <a:off x="731520" y="2240280"/>
            <a:ext cx="1069848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4069080"/>
            <a:ext cx="10515600" cy="914400"/>
          </a:xfrm>
          <a:prstGeom prst="rect">
            <a:avLst/>
          </a:prstGeom>
          <a:noFill/>
          <a:ln/>
        </p:spPr>
        <p:txBody>
          <a:bodyPr wrap="square" rtlCol="0"/>
          <a:lstStyle>
            <a:lvl1pPr indent="0" marL="0">
              <a:buNone/>
              <a:defRPr lang="en-US" sz="2000" dirty="0">
                <a:solidFill>
                  <a:schemeClr val="accent3"/>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rtlCol="0"/>
          <a:lstStyle>
            <a:lvl1pPr indent="0" marL="0">
              <a:buNone/>
              <a:defRPr lang="en-US" sz="1200" b="1" spc="100" kern="0" dirty="0">
                <a:solidFill>
                  <a:schemeClr val="accent3"/>
                </a:solidFill>
              </a:defRPr>
            </a:lvl1pPr>
          </a:lstStyle>
          <a:p>
            <a:pPr indent="0" marL="0">
              <a:buNone/>
            </a:pP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10515600" cy="365760"/>
          </a:xfrm>
          <a:prstGeom prst="rect">
            <a:avLst/>
          </a:prstGeom>
          <a:noFill/>
          <a:ln/>
        </p:spPr>
        <p:txBody>
          <a:bodyPr wrap="square" lIns="0" tIns="0" rIns="0" bIns="0" rtlCol="0"/>
          <a:lstStyle/>
          <a:p>
            <a:pPr indent="0" marL="0">
              <a:buNone/>
            </a:pPr>
            <a:r>
              <a:rPr lang="en-US" sz="1400" b="1" spc="100" kern="0" dirty="0">
                <a:solidFill>
                  <a:schemeClr val="accent3"/>
                </a:solidFill>
              </a:rPr>
              <a:t>EE650 · BASICS OF MODERN CONTROL SYSTEMS · PROGRESS REVIEW</a:t>
            </a:r>
            <a:endParaRPr lang="en-US" sz="1400" dirty="0"/>
          </a:p>
        </p:txBody>
      </p:sp>
      <p:sp>
        <p:nvSpPr>
          <p:cNvPr id="3" name="Text 0"/>
          <p:cNvSpPr/>
          <p:nvPr>
            <p:ph idx="101" type="title" hasCustomPrompt="1"/>
          </p:nvPr>
        </p:nvSpPr>
        <p:spPr>
          <a:xfrm>
            <a:off x="731520" y="2240280"/>
            <a:ext cx="10698480" cy="1737360"/>
          </a:xfrm>
          <a:prstGeom prst="rect">
            <a:avLst/>
          </a:prstGeom>
          <a:noFill/>
          <a:ln/>
        </p:spPr>
        <p:txBody>
          <a:bodyPr wrap="square" lIns="0" tIns="0" rIns="0" bIns="0" rtlCol="0" anchor="t"/>
          <a:lstStyle/>
          <a:p>
            <a:pPr algn="l" indent="0" marL="0">
              <a:buNone/>
            </a:pPr>
            <a:r>
              <a:rPr lang="en-US" sz="4000" b="1" dirty="0">
                <a:solidFill>
                  <a:schemeClr val="bg1"/>
                </a:solidFill>
              </a:rPr>
              <a:t>Fault-tolerant control of a quadrotor after complete rotor loss</a:t>
            </a:r>
            <a:endParaRPr lang="en-US" sz="4000" dirty="0"/>
          </a:p>
        </p:txBody>
      </p:sp>
      <p:sp>
        <p:nvSpPr>
          <p:cNvPr id="4" name="Text 0"/>
          <p:cNvSpPr/>
          <p:nvPr>
            <p:ph idx="102" type="body" hasCustomPrompt="1"/>
          </p:nvPr>
        </p:nvSpPr>
        <p:spPr>
          <a:xfrm>
            <a:off x="731520" y="4069080"/>
            <a:ext cx="10515600" cy="914400"/>
          </a:xfrm>
          <a:prstGeom prst="rect">
            <a:avLst/>
          </a:prstGeom>
          <a:noFill/>
          <a:ln/>
        </p:spPr>
        <p:txBody>
          <a:bodyPr wrap="square" lIns="0" tIns="0" rIns="0" bIns="0" rtlCol="0" anchor="t"/>
          <a:lstStyle/>
          <a:p>
            <a:pPr indent="0" marL="0">
              <a:buNone/>
            </a:pPr>
            <a:r>
              <a:rPr lang="en-US" sz="2000" dirty="0">
                <a:solidFill>
                  <a:schemeClr val="accent3"/>
                </a:solidFill>
              </a:rPr>
              <a:t>Physics-informed residual Koopman model predictive control</a:t>
            </a:r>
            <a:endParaRPr lang="en-US" sz="2000" dirty="0"/>
          </a:p>
        </p:txBody>
      </p:sp>
      <p:sp>
        <p:nvSpPr>
          <p:cNvPr id="5" name="team"/>
          <p:cNvSpPr txBox="1"/>
          <p:nvPr/>
        </p:nvSpPr>
        <p:spPr>
          <a:xfrm>
            <a:off x="731520" y="5852160"/>
            <a:ext cx="7680960" cy="365760"/>
          </a:xfrm>
          <a:prstGeom prst="rect">
            <a:avLst/>
          </a:prstGeom>
          <a:noFill/>
          <a:ln/>
        </p:spPr>
        <p:txBody>
          <a:bodyPr wrap="square" lIns="0" tIns="0" rIns="0" bIns="0" rtlCol="0" anchor="t"/>
          <a:lstStyle/>
          <a:p>
            <a:pPr indent="0" marL="0">
              <a:buNone/>
            </a:pPr>
            <a:r>
              <a:rPr lang="en-US" sz="1600" dirty="0">
                <a:solidFill>
                  <a:schemeClr val="accent3"/>
                </a:solidFill>
              </a:rPr>
              <a:t>Pranshu Kumar · Mudita Jain · Prashant Gupta · Aarush Singh Kushwaha</a:t>
            </a:r>
            <a:endParaRPr lang="en-US" sz="1600" dirty="0"/>
          </a:p>
        </p:txBody>
      </p:sp>
      <p:sp>
        <p:nvSpPr>
          <p:cNvPr id="6" name="date"/>
          <p:cNvSpPr txBox="1"/>
          <p:nvPr/>
        </p:nvSpPr>
        <p:spPr>
          <a:xfrm>
            <a:off x="8686800" y="5852160"/>
            <a:ext cx="2743200" cy="365760"/>
          </a:xfrm>
          <a:prstGeom prst="rect">
            <a:avLst/>
          </a:prstGeom>
          <a:noFill/>
          <a:ln/>
        </p:spPr>
        <p:txBody>
          <a:bodyPr wrap="square" lIns="0" tIns="0" rIns="0" bIns="0" rtlCol="0" anchor="t"/>
          <a:lstStyle/>
          <a:p>
            <a:pPr algn="r" indent="0" marL="0">
              <a:buNone/>
            </a:pPr>
            <a:r>
              <a:rPr lang="en-US" sz="1600" dirty="0">
                <a:solidFill>
                  <a:schemeClr val="accent3"/>
                </a:solidFill>
              </a:rPr>
              <a:t>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THE PROBLEM</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What happens when a rotor fails</a:t>
            </a:r>
            <a:endParaRPr lang="en-US" sz="3000" dirty="0"/>
          </a:p>
        </p:txBody>
      </p:sp>
      <p:sp>
        <p:nvSpPr>
          <p:cNvPr id="5" name="intro"/>
          <p:cNvSpPr txBox="1"/>
          <p:nvPr/>
        </p:nvSpPr>
        <p:spPr>
          <a:xfrm>
            <a:off x="548640" y="1508760"/>
            <a:ext cx="11064240" cy="822960"/>
          </a:xfrm>
          <a:prstGeom prst="rect">
            <a:avLst/>
          </a:prstGeom>
          <a:noFill/>
          <a:ln/>
        </p:spPr>
        <p:txBody>
          <a:bodyPr wrap="square" lIns="0" tIns="0" rIns="0" bIns="0" rtlCol="0" anchor="t"/>
          <a:lstStyle/>
          <a:p>
            <a:pPr indent="0" marL="0">
              <a:buNone/>
            </a:pPr>
            <a:r>
              <a:rPr lang="en-US" sz="1700" dirty="0">
                <a:solidFill>
                  <a:schemeClr val="tx1"/>
                </a:solidFill>
              </a:rPr>
              <a:t>A quadrotor uses its four thrusts to control four things: height, roll, pitch and yaw. With one rotor gone, the twisting (reaction) torques of the propellers no longer cancel, so the drone cannot avoid spinning.</a:t>
            </a:r>
            <a:endParaRPr lang="en-US" sz="1700" dirty="0"/>
          </a:p>
        </p:txBody>
      </p:sp>
      <p:sp>
        <p:nvSpPr>
          <p:cNvPr id="6" name="step 1"/>
          <p:cNvSpPr txBox="1"/>
          <p:nvPr/>
        </p:nvSpPr>
        <p:spPr>
          <a:xfrm>
            <a:off x="548640" y="2514600"/>
            <a:ext cx="1920240" cy="1554480"/>
          </a:xfrm>
          <a:prstGeom prst="roundRect">
            <a:avLst>
              <a:gd name="adj" fmla="val 4706"/>
            </a:avLst>
          </a:prstGeom>
          <a:solidFill>
            <a:schemeClr val="bg2"/>
          </a:solidFill>
          <a:ln>
            <a:solidFill>
              <a:schemeClr val="bg2"/>
            </a:solidFill>
          </a:ln>
        </p:spPr>
        <p:txBody>
          <a:bodyPr wrap="square" lIns="152400" tIns="152400" rIns="152400" bIns="152400" rtlCol="0" anchor="t"/>
          <a:lstStyle/>
          <a:p>
            <a:pPr indent="0" marL="0">
              <a:buNone/>
            </a:pPr>
            <a:r>
              <a:rPr lang="en-US" sz="1800" b="1" dirty="0">
                <a:solidFill>
                  <a:schemeClr val="tx2"/>
                </a:solidFill>
              </a:rPr>
              <a:t>Healthy flight</a:t>
            </a:r>
            <a:endParaRPr lang="en-US" sz="1600" dirty="0"/>
          </a:p>
          <a:p>
            <a:pPr indent="0" marL="0">
              <a:spcBef>
                <a:spcPts val="600"/>
              </a:spcBef>
              <a:buNone/>
            </a:pPr>
            <a:r>
              <a:rPr lang="en-US" sz="1400" dirty="0">
                <a:solidFill>
                  <a:schemeClr val="accent6"/>
                </a:solidFill>
              </a:rPr>
              <a:t>Four rotors, normal controller</a:t>
            </a:r>
            <a:endParaRPr lang="en-US" sz="1600" dirty="0"/>
          </a:p>
        </p:txBody>
      </p:sp>
      <p:sp>
        <p:nvSpPr>
          <p:cNvPr id="7" name="arrow 1"/>
          <p:cNvSpPr/>
          <p:nvPr/>
        </p:nvSpPr>
        <p:spPr>
          <a:xfrm>
            <a:off x="2523744" y="3154680"/>
            <a:ext cx="256032" cy="274320"/>
          </a:xfrm>
          <a:prstGeom prst="rightArrow">
            <a:avLst/>
          </a:prstGeom>
          <a:solidFill>
            <a:schemeClr val="accent6"/>
          </a:solidFill>
          <a:ln w="12700">
            <a:solidFill>
              <a:schemeClr val="accent6"/>
            </a:solidFill>
            <a:prstDash val="solid"/>
          </a:ln>
        </p:spPr>
      </p:sp>
      <p:sp>
        <p:nvSpPr>
          <p:cNvPr id="8" name="step 2"/>
          <p:cNvSpPr txBox="1"/>
          <p:nvPr/>
        </p:nvSpPr>
        <p:spPr>
          <a:xfrm>
            <a:off x="2834640" y="2514600"/>
            <a:ext cx="1920240" cy="1554480"/>
          </a:xfrm>
          <a:prstGeom prst="roundRect">
            <a:avLst>
              <a:gd name="adj" fmla="val 4706"/>
            </a:avLst>
          </a:prstGeom>
          <a:solidFill>
            <a:schemeClr val="accent5"/>
          </a:solidFill>
          <a:ln>
            <a:solidFill>
              <a:schemeClr val="accent5"/>
            </a:solidFill>
          </a:ln>
        </p:spPr>
        <p:txBody>
          <a:bodyPr wrap="square" lIns="152400" tIns="152400" rIns="152400" bIns="152400" rtlCol="0" anchor="t"/>
          <a:lstStyle/>
          <a:p>
            <a:pPr indent="0" marL="0">
              <a:buNone/>
            </a:pPr>
            <a:r>
              <a:rPr lang="en-US" sz="1800" b="1" dirty="0">
                <a:solidFill>
                  <a:schemeClr val="tx2"/>
                </a:solidFill>
              </a:rPr>
              <a:t>Rotor fails</a:t>
            </a:r>
            <a:endParaRPr lang="en-US" sz="1600" dirty="0"/>
          </a:p>
          <a:p>
            <a:pPr indent="0" marL="0">
              <a:spcBef>
                <a:spcPts val="600"/>
              </a:spcBef>
              <a:buNone/>
            </a:pPr>
            <a:r>
              <a:rPr lang="en-US" sz="1400" dirty="0">
                <a:solidFill>
                  <a:schemeClr val="accent6"/>
                </a:solidFill>
              </a:rPr>
              <a:t>One thrust lost; yaw torque no longer balanced</a:t>
            </a:r>
            <a:endParaRPr lang="en-US" sz="1600" dirty="0"/>
          </a:p>
        </p:txBody>
      </p:sp>
      <p:sp>
        <p:nvSpPr>
          <p:cNvPr id="9" name="arrow 2"/>
          <p:cNvSpPr/>
          <p:nvPr/>
        </p:nvSpPr>
        <p:spPr>
          <a:xfrm>
            <a:off x="4809744" y="3154680"/>
            <a:ext cx="256032" cy="274320"/>
          </a:xfrm>
          <a:prstGeom prst="rightArrow">
            <a:avLst/>
          </a:prstGeom>
          <a:solidFill>
            <a:schemeClr val="accent6"/>
          </a:solidFill>
          <a:ln w="12700">
            <a:solidFill>
              <a:schemeClr val="accent6"/>
            </a:solidFill>
            <a:prstDash val="solid"/>
          </a:ln>
        </p:spPr>
      </p:sp>
      <p:sp>
        <p:nvSpPr>
          <p:cNvPr id="10" name="step 3"/>
          <p:cNvSpPr txBox="1"/>
          <p:nvPr/>
        </p:nvSpPr>
        <p:spPr>
          <a:xfrm>
            <a:off x="5120640" y="2514600"/>
            <a:ext cx="1920240" cy="1554480"/>
          </a:xfrm>
          <a:prstGeom prst="roundRect">
            <a:avLst>
              <a:gd name="adj" fmla="val 4706"/>
            </a:avLst>
          </a:prstGeom>
          <a:solidFill>
            <a:schemeClr val="bg2"/>
          </a:solidFill>
          <a:ln>
            <a:solidFill>
              <a:schemeClr val="bg2"/>
            </a:solidFill>
          </a:ln>
        </p:spPr>
        <p:txBody>
          <a:bodyPr wrap="square" lIns="152400" tIns="152400" rIns="152400" bIns="152400" rtlCol="0" anchor="t"/>
          <a:lstStyle/>
          <a:p>
            <a:pPr indent="0" marL="0">
              <a:buNone/>
            </a:pPr>
            <a:r>
              <a:rPr lang="en-US" sz="1800" b="1" dirty="0">
                <a:solidFill>
                  <a:schemeClr val="tx2"/>
                </a:solidFill>
              </a:rPr>
              <a:t>Drone spins up</a:t>
            </a:r>
            <a:endParaRPr lang="en-US" sz="1600" dirty="0"/>
          </a:p>
          <a:p>
            <a:pPr indent="0" marL="0">
              <a:spcBef>
                <a:spcPts val="600"/>
              </a:spcBef>
              <a:buNone/>
            </a:pPr>
            <a:r>
              <a:rPr lang="en-US" sz="1400" dirty="0">
                <a:solidFill>
                  <a:schemeClr val="accent6"/>
                </a:solidFill>
              </a:rPr>
              <a:t>Spin rate grows towards ≈ 19 rad/s</a:t>
            </a:r>
            <a:endParaRPr lang="en-US" sz="1600" dirty="0"/>
          </a:p>
        </p:txBody>
      </p:sp>
      <p:sp>
        <p:nvSpPr>
          <p:cNvPr id="11" name="arrow 3"/>
          <p:cNvSpPr/>
          <p:nvPr/>
        </p:nvSpPr>
        <p:spPr>
          <a:xfrm>
            <a:off x="7095744" y="3154680"/>
            <a:ext cx="256032" cy="274320"/>
          </a:xfrm>
          <a:prstGeom prst="rightArrow">
            <a:avLst/>
          </a:prstGeom>
          <a:solidFill>
            <a:schemeClr val="accent6"/>
          </a:solidFill>
          <a:ln w="12700">
            <a:solidFill>
              <a:schemeClr val="accent6"/>
            </a:solidFill>
            <a:prstDash val="solid"/>
          </a:ln>
        </p:spPr>
      </p:sp>
      <p:sp>
        <p:nvSpPr>
          <p:cNvPr id="12" name="step 4"/>
          <p:cNvSpPr txBox="1"/>
          <p:nvPr/>
        </p:nvSpPr>
        <p:spPr>
          <a:xfrm>
            <a:off x="7406640" y="2514600"/>
            <a:ext cx="1920240" cy="1554480"/>
          </a:xfrm>
          <a:prstGeom prst="roundRect">
            <a:avLst>
              <a:gd name="adj" fmla="val 4706"/>
            </a:avLst>
          </a:prstGeom>
          <a:solidFill>
            <a:schemeClr val="bg2"/>
          </a:solidFill>
          <a:ln>
            <a:solidFill>
              <a:schemeClr val="bg2"/>
            </a:solidFill>
          </a:ln>
        </p:spPr>
        <p:txBody>
          <a:bodyPr wrap="square" lIns="152400" tIns="152400" rIns="152400" bIns="152400" rtlCol="0" anchor="t"/>
          <a:lstStyle/>
          <a:p>
            <a:pPr indent="0" marL="0">
              <a:buNone/>
            </a:pPr>
            <a:r>
              <a:rPr lang="en-US" sz="1800" b="1" dirty="0">
                <a:solidFill>
                  <a:schemeClr val="tx2"/>
                </a:solidFill>
              </a:rPr>
              <a:t>Failure controller</a:t>
            </a:r>
            <a:endParaRPr lang="en-US" sz="1600" dirty="0"/>
          </a:p>
          <a:p>
            <a:pPr indent="0" marL="0">
              <a:spcBef>
                <a:spcPts val="600"/>
              </a:spcBef>
              <a:buNone/>
            </a:pPr>
            <a:r>
              <a:rPr lang="en-US" sz="1400" dirty="0">
                <a:solidFill>
                  <a:schemeClr val="accent6"/>
                </a:solidFill>
              </a:rPr>
              <a:t>Holds the spin axis and the height</a:t>
            </a:r>
            <a:endParaRPr lang="en-US" sz="1600" dirty="0"/>
          </a:p>
        </p:txBody>
      </p:sp>
      <p:sp>
        <p:nvSpPr>
          <p:cNvPr id="13" name="arrow 4"/>
          <p:cNvSpPr/>
          <p:nvPr/>
        </p:nvSpPr>
        <p:spPr>
          <a:xfrm>
            <a:off x="9381744" y="3154680"/>
            <a:ext cx="256032" cy="274320"/>
          </a:xfrm>
          <a:prstGeom prst="rightArrow">
            <a:avLst/>
          </a:prstGeom>
          <a:solidFill>
            <a:schemeClr val="accent6"/>
          </a:solidFill>
          <a:ln w="12700">
            <a:solidFill>
              <a:schemeClr val="accent6"/>
            </a:solidFill>
            <a:prstDash val="solid"/>
          </a:ln>
        </p:spPr>
      </p:sp>
      <p:sp>
        <p:nvSpPr>
          <p:cNvPr id="14" name="step 5"/>
          <p:cNvSpPr txBox="1"/>
          <p:nvPr/>
        </p:nvSpPr>
        <p:spPr>
          <a:xfrm>
            <a:off x="9692640" y="2514600"/>
            <a:ext cx="1920240" cy="1554480"/>
          </a:xfrm>
          <a:prstGeom prst="roundRect">
            <a:avLst>
              <a:gd name="adj" fmla="val 4706"/>
            </a:avLst>
          </a:prstGeom>
          <a:solidFill>
            <a:schemeClr val="accent4"/>
          </a:solidFill>
          <a:ln>
            <a:solidFill>
              <a:schemeClr val="accent4"/>
            </a:solidFill>
          </a:ln>
        </p:spPr>
        <p:txBody>
          <a:bodyPr wrap="square" lIns="152400" tIns="152400" rIns="152400" bIns="152400" rtlCol="0" anchor="t"/>
          <a:lstStyle/>
          <a:p>
            <a:pPr indent="0" marL="0">
              <a:buNone/>
            </a:pPr>
            <a:r>
              <a:rPr lang="en-US" sz="1800" b="1" dirty="0">
                <a:solidFill>
                  <a:schemeClr val="tx2"/>
                </a:solidFill>
              </a:rPr>
              <a:t>Relaxed hover</a:t>
            </a:r>
            <a:endParaRPr lang="en-US" sz="1600" dirty="0"/>
          </a:p>
          <a:p>
            <a:pPr indent="0" marL="0">
              <a:spcBef>
                <a:spcPts val="600"/>
              </a:spcBef>
              <a:buNone/>
            </a:pPr>
            <a:r>
              <a:rPr lang="en-US" sz="1400" dirty="0">
                <a:solidFill>
                  <a:schemeClr val="accent6"/>
                </a:solidFill>
              </a:rPr>
              <a:t>Steady spin, axis tilted 16°</a:t>
            </a:r>
            <a:endParaRPr lang="en-US" sz="1600" dirty="0"/>
          </a:p>
        </p:txBody>
      </p:sp>
      <p:sp>
        <p:nvSpPr>
          <p:cNvPr id="15" name="relaxed hover statement"/>
          <p:cNvSpPr txBox="1"/>
          <p:nvPr/>
        </p:nvSpPr>
        <p:spPr>
          <a:xfrm>
            <a:off x="548640" y="4434840"/>
            <a:ext cx="11064240" cy="1234440"/>
          </a:xfrm>
          <a:prstGeom prst="roundRect">
            <a:avLst>
              <a:gd name="adj" fmla="val 5926"/>
            </a:avLst>
          </a:prstGeom>
          <a:solidFill>
            <a:schemeClr val="bg2"/>
          </a:solidFill>
          <a:ln>
            <a:solidFill>
              <a:schemeClr val="bg2"/>
            </a:solidFill>
          </a:ln>
        </p:spPr>
        <p:txBody>
          <a:bodyPr wrap="square" lIns="152400" tIns="152400" rIns="152400" bIns="152400" rtlCol="0" anchor="t"/>
          <a:lstStyle/>
          <a:p>
            <a:pPr indent="0" marL="0">
              <a:buNone/>
            </a:pPr>
            <a:r>
              <a:rPr lang="en-US" sz="2000" b="1" dirty="0">
                <a:solidFill>
                  <a:schemeClr val="tx2"/>
                </a:solidFill>
              </a:rPr>
              <a:t>Giving up yaw keeps the drone flying.</a:t>
            </a:r>
            <a:endParaRPr lang="en-US" sz="1600" dirty="0"/>
          </a:p>
          <a:p>
            <a:pPr indent="0" marL="0">
              <a:spcBef>
                <a:spcPts val="800"/>
              </a:spcBef>
              <a:buNone/>
            </a:pPr>
            <a:r>
              <a:rPr lang="en-US" sz="1600" dirty="0">
                <a:solidFill>
                  <a:schemeClr val="tx1"/>
                </a:solidFill>
              </a:rPr>
              <a:t>It hovers like a spinning top and moves by tilting its spin axis. Mueller &amp; D'Andrea (2014) derived this "relaxed hover", showed that it is controllable and flew it.</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PROBLEM STATEMENT</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The physics model is good, but not perfect</a:t>
            </a:r>
            <a:endParaRPr lang="en-US" sz="3000" dirty="0"/>
          </a:p>
        </p:txBody>
      </p:sp>
      <p:sp>
        <p:nvSpPr>
          <p:cNvPr id="5" name="relies card"/>
          <p:cNvSpPr txBox="1"/>
          <p:nvPr/>
        </p:nvSpPr>
        <p:spPr>
          <a:xfrm>
            <a:off x="548640" y="1554480"/>
            <a:ext cx="5394960" cy="1508760"/>
          </a:xfrm>
          <a:prstGeom prst="roundRect">
            <a:avLst>
              <a:gd name="adj" fmla="val 4848"/>
            </a:avLst>
          </a:prstGeom>
          <a:solidFill>
            <a:schemeClr val="accent4"/>
          </a:solidFill>
          <a:ln>
            <a:solidFill>
              <a:schemeClr val="accent4"/>
            </a:solidFill>
          </a:ln>
        </p:spPr>
        <p:txBody>
          <a:bodyPr wrap="square" lIns="152400" tIns="152400" rIns="152400" bIns="152400" rtlCol="0" anchor="t"/>
          <a:lstStyle/>
          <a:p>
            <a:pPr indent="0" marL="0">
              <a:buNone/>
            </a:pPr>
            <a:r>
              <a:rPr lang="en-US" sz="1300" b="1" dirty="0">
                <a:solidFill>
                  <a:schemeClr val="accent1"/>
                </a:solidFill>
              </a:rPr>
              <a:t>WHAT THE CONTROLLER RELIES ON</a:t>
            </a:r>
            <a:endParaRPr lang="en-US" sz="1600" dirty="0"/>
          </a:p>
          <a:p>
            <a:pPr indent="0" marL="0">
              <a:spcBef>
                <a:spcPts val="800"/>
              </a:spcBef>
              <a:buNone/>
            </a:pPr>
            <a:r>
              <a:rPr lang="en-US" sz="1600" dirty="0">
                <a:solidFill>
                  <a:schemeClr val="tx1"/>
                </a:solidFill>
              </a:rPr>
              <a:t>The spinning-drone model of Mueller &amp; D'Andrea: correct equilibrium, linear about the spin, spin-up time matched in flight.</a:t>
            </a:r>
            <a:endParaRPr lang="en-US" sz="1600" dirty="0"/>
          </a:p>
        </p:txBody>
      </p:sp>
      <p:sp>
        <p:nvSpPr>
          <p:cNvPr id="6" name="misses card"/>
          <p:cNvSpPr txBox="1"/>
          <p:nvPr/>
        </p:nvSpPr>
        <p:spPr>
          <a:xfrm>
            <a:off x="6217920" y="1554480"/>
            <a:ext cx="5394960" cy="1508760"/>
          </a:xfrm>
          <a:prstGeom prst="roundRect">
            <a:avLst>
              <a:gd name="adj" fmla="val 4848"/>
            </a:avLst>
          </a:prstGeom>
          <a:solidFill>
            <a:schemeClr val="accent5"/>
          </a:solidFill>
          <a:ln>
            <a:solidFill>
              <a:schemeClr val="accent5"/>
            </a:solidFill>
          </a:ln>
        </p:spPr>
        <p:txBody>
          <a:bodyPr wrap="square" lIns="152400" tIns="152400" rIns="152400" bIns="152400" rtlCol="0" anchor="t"/>
          <a:lstStyle/>
          <a:p>
            <a:pPr indent="0" marL="0">
              <a:buNone/>
            </a:pPr>
            <a:r>
              <a:rPr lang="en-US" sz="1300" b="1" dirty="0">
                <a:solidFill>
                  <a:schemeClr val="accent2"/>
                </a:solidFill>
              </a:rPr>
              <a:t>WHAT THE MODEL MISSES</a:t>
            </a:r>
            <a:endParaRPr lang="en-US" sz="1600" dirty="0"/>
          </a:p>
          <a:p>
            <a:pPr indent="0" marL="0">
              <a:spcBef>
                <a:spcPts val="800"/>
              </a:spcBef>
              <a:buNone/>
            </a:pPr>
            <a:r>
              <a:rPr lang="en-US" sz="1600" dirty="0">
                <a:solidFill>
                  <a:schemeClr val="tx1"/>
                </a:solidFill>
              </a:rPr>
              <a:t>In flight: less thrust while spinning fast, and a spin about 20–27% slower than predicted. Also inertia errors and motor speed. A controller built on it settles with a steady error.</a:t>
            </a:r>
            <a:endParaRPr lang="en-US" sz="1600" dirty="0"/>
          </a:p>
        </p:txBody>
      </p:sp>
      <p:sp>
        <p:nvSpPr>
          <p:cNvPr id="7" name="question card"/>
          <p:cNvSpPr txBox="1"/>
          <p:nvPr/>
        </p:nvSpPr>
        <p:spPr>
          <a:xfrm>
            <a:off x="548640" y="3291840"/>
            <a:ext cx="11064240" cy="1554480"/>
          </a:xfrm>
          <a:prstGeom prst="roundRect">
            <a:avLst>
              <a:gd name="adj" fmla="val 4706"/>
            </a:avLst>
          </a:prstGeom>
          <a:solidFill>
            <a:schemeClr val="bg2"/>
          </a:solidFill>
          <a:ln>
            <a:solidFill>
              <a:schemeClr val="bg2"/>
            </a:solidFill>
          </a:ln>
        </p:spPr>
        <p:txBody>
          <a:bodyPr wrap="square" lIns="152400" tIns="152400" rIns="152400" bIns="152400" rtlCol="0" anchor="t"/>
          <a:lstStyle/>
          <a:p>
            <a:pPr indent="0" marL="0">
              <a:buNone/>
            </a:pPr>
            <a:r>
              <a:rPr lang="en-US" sz="1300" b="1" dirty="0">
                <a:solidFill>
                  <a:schemeClr val="accent1"/>
                </a:solidFill>
              </a:rPr>
              <a:t>RESEARCH QUESTION</a:t>
            </a:r>
            <a:endParaRPr lang="en-US" sz="1600" dirty="0"/>
          </a:p>
          <a:p>
            <a:pPr indent="0" marL="0">
              <a:spcBef>
                <a:spcPts val="800"/>
              </a:spcBef>
              <a:buNone/>
            </a:pPr>
            <a:r>
              <a:rPr lang="en-US" sz="1900" b="1" dirty="0">
                <a:solidFill>
                  <a:schemeClr val="tx2"/>
                </a:solidFill>
              </a:rPr>
              <a:t>Can a data-driven model of only the mismatch, built on top of the physics model, predict the failed drone more accurately and give a smaller steady error in MPC than the physics model alone or a Koopman model of the full dynamics?</a:t>
            </a:r>
            <a:endParaRPr lang="en-US" sz="1600" dirty="0"/>
          </a:p>
        </p:txBody>
      </p:sp>
      <p:sp>
        <p:nvSpPr>
          <p:cNvPr id="8" name="why and gap"/>
          <p:cNvSpPr txBox="1"/>
          <p:nvPr/>
        </p:nvSpPr>
        <p:spPr>
          <a:xfrm>
            <a:off x="548640" y="5029200"/>
            <a:ext cx="11064240" cy="1005840"/>
          </a:xfrm>
          <a:prstGeom prst="rect">
            <a:avLst/>
          </a:prstGeom>
          <a:noFill/>
          <a:ln/>
        </p:spPr>
        <p:txBody>
          <a:bodyPr wrap="square" lIns="0" tIns="0" rIns="0" bIns="0" rtlCol="0" anchor="t"/>
          <a:lstStyle/>
          <a:p>
            <a:pPr indent="0" marL="0">
              <a:buNone/>
            </a:pPr>
            <a:r>
              <a:rPr lang="en-US" sz="1500" b="1" dirty="0">
                <a:solidFill>
                  <a:schemeClr val="tx1"/>
                </a:solidFill>
              </a:rPr>
              <a:t>Koopman / EDMD: </a:t>
            </a:r>
            <a:pPr indent="0" marL="0">
              <a:buNone/>
            </a:pPr>
            <a:r>
              <a:rPr lang="en-US" sz="1500" dirty="0">
                <a:solidFill>
                  <a:schemeClr val="tx1"/>
                </a:solidFill>
              </a:rPr>
              <a:t>describe the state by many nonlinear features (here all pairwise products) and fit a linear model on them by least squares. We use the same tools to learn the one-step error of the physics model; it is evaluated outside the MPC optimization, so the MPC stays a convex quadratic program (QP). </a:t>
            </a:r>
            <a:pPr indent="0" marL="0">
              <a:buNone/>
            </a:pPr>
            <a:r>
              <a:rPr lang="en-US" sz="1500" b="1" dirty="0">
                <a:solidFill>
                  <a:schemeClr val="tx1"/>
                </a:solidFill>
              </a:rPr>
              <a:t>Gap: </a:t>
            </a:r>
            <a:pPr indent="0" marL="0">
              <a:buNone/>
            </a:pPr>
            <a:r>
              <a:rPr lang="en-US" sz="1500" dirty="0">
                <a:solidFill>
                  <a:schemeClr val="tx1"/>
                </a:solidFill>
              </a:rPr>
              <a:t>residual Koopman models exist for healthy drones and other robots (Todde et al. 2026; Bruder et al. 2025); we did not find them for the spinning regime after complete rotor loss.</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FOUNDATION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Simulator and vehicle</a:t>
            </a:r>
            <a:endParaRPr lang="en-US" sz="3000" dirty="0"/>
          </a:p>
        </p:txBody>
      </p:sp>
      <p:sp>
        <p:nvSpPr>
          <p:cNvPr id="5" name="model bullets"/>
          <p:cNvSpPr txBox="1"/>
          <p:nvPr/>
        </p:nvSpPr>
        <p:spPr>
          <a:xfrm>
            <a:off x="548640" y="1600200"/>
            <a:ext cx="603504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6-DOF rigid body, quaternion attitude, rotor gyroscopic terms</a:t>
            </a:r>
            <a:endParaRPr lang="en-US" sz="1700" dirty="0"/>
          </a:p>
          <a:p>
            <a:pPr marL="342900" indent="-342900">
              <a:spcAft>
                <a:spcPts val="800"/>
              </a:spcAft>
              <a:buSzPct val="100000"/>
              <a:buChar char="•"/>
            </a:pPr>
            <a:r>
              <a:rPr lang="en-US" sz="1700" dirty="0">
                <a:solidFill>
                  <a:schemeClr val="tx1"/>
                </a:solidFill>
              </a:rPr>
              <a:t>Per-rotor thrust 0.2–3.8 N; a motor can also be stopped</a:t>
            </a:r>
            <a:endParaRPr lang="en-US" sz="1700" dirty="0"/>
          </a:p>
          <a:p>
            <a:pPr marL="342900" indent="-342900">
              <a:spcAft>
                <a:spcPts val="800"/>
              </a:spcAft>
              <a:buSzPct val="100000"/>
              <a:buChar char="•"/>
            </a:pPr>
            <a:r>
              <a:rPr lang="en-US" sz="1700" dirty="0">
                <a:solidFill>
                  <a:schemeClr val="tx1"/>
                </a:solidFill>
              </a:rPr>
              <a:t>First-order motor lag, 15 ms</a:t>
            </a:r>
            <a:endParaRPr lang="en-US" sz="1700" dirty="0"/>
          </a:p>
          <a:p>
            <a:pPr marL="342900" indent="-342900">
              <a:spcAft>
                <a:spcPts val="800"/>
              </a:spcAft>
              <a:buSzPct val="100000"/>
              <a:buChar char="•"/>
            </a:pPr>
            <a:r>
              <a:rPr lang="en-US" sz="1700" dirty="0">
                <a:solidFill>
                  <a:schemeClr val="tx1"/>
                </a:solidFill>
              </a:rPr>
              <a:t>Reduced attitude n: the "up" direction seen from the body (all that is controlled after the failure)</a:t>
            </a:r>
            <a:endParaRPr lang="en-US" sz="1700" dirty="0"/>
          </a:p>
          <a:p>
            <a:pPr marL="342900" indent="-342900">
              <a:spcAft>
                <a:spcPts val="800"/>
              </a:spcAft>
              <a:buSzPct val="100000"/>
              <a:buChar char="•"/>
            </a:pPr>
            <a:r>
              <a:rPr lang="en-US" sz="1700" dirty="0">
                <a:solidFill>
                  <a:schemeClr val="tx1"/>
                </a:solidFill>
              </a:rPr>
              <a:t>RK4 integration; controller sample period 1–5 ms, command held between samples</a:t>
            </a:r>
            <a:endParaRPr lang="en-US" sz="1700" dirty="0"/>
          </a:p>
          <a:p>
            <a:pPr marL="342900" indent="-342900">
              <a:spcAft>
                <a:spcPts val="800"/>
              </a:spcAft>
              <a:buSzPct val="100000"/>
              <a:buChar char="•"/>
            </a:pPr>
            <a:r>
              <a:rPr lang="en-US" sz="1700" dirty="0">
                <a:solidFill>
                  <a:schemeClr val="tx1"/>
                </a:solidFill>
              </a:rPr>
              <a:t>"Truth" plants for learning data: same simulator plus effects the design model lacks (thrust loss at high spin, inertia error, slower motors)</a:t>
            </a:r>
            <a:endParaRPr lang="en-US" sz="1700" dirty="0"/>
          </a:p>
        </p:txBody>
      </p:sp>
      <p:graphicFrame>
        <p:nvGraphicFramePr>
          <p:cNvPr id="5" name="parameter table"/>
          <p:cNvGraphicFramePr>
            <a:graphicFrameLocks noGrp="1"/>
          </p:cNvGraphicFramePr>
          <p:nvPr>
            <p:extLst>
              <p:ext uri="{D42A27DB-BD31-4B8C-83A1-F6EECF244321}">
                <p14:modId xmlns:p14="http://schemas.microsoft.com/office/powerpoint/2010/main" val="1579011935"/>
              </p:ext>
            </p:extLst>
          </p:nvPr>
        </p:nvGraphicFramePr>
        <p:xfrm>
          <a:off x="6949440" y="1600200"/>
          <a:ext cx="4663440" cy="914400"/>
        </p:xfrm>
        <a:graphic>
          <a:graphicData uri="http://schemas.openxmlformats.org/drawingml/2006/table">
            <a:tbl>
              <a:tblPr/>
              <a:tblGrid>
                <a:gridCol w="2377440"/>
                <a:gridCol w="2286000"/>
              </a:tblGrid>
              <a:tr h="0">
                <a:tc>
                  <a:txBody>
                    <a:bodyPr/>
                    <a:lstStyle/>
                    <a:p>
                      <a:pPr indent="0" marL="0">
                        <a:buNone/>
                      </a:pPr>
                      <a:r>
                        <a:rPr lang="en-US" sz="1400" b="1" dirty="0">
                          <a:solidFill>
                            <a:schemeClr val="tx1"/>
                          </a:solidFill>
                        </a:rPr>
                        <a:t>Parameter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Value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0">
                <a:tc>
                  <a:txBody>
                    <a:bodyPr/>
                    <a:lstStyle/>
                    <a:p>
                      <a:pPr indent="0" marL="0">
                        <a:buNone/>
                      </a:pPr>
                      <a:r>
                        <a:rPr lang="en-US" sz="1400" dirty="0">
                          <a:solidFill>
                            <a:schemeClr val="tx1"/>
                          </a:solidFill>
                        </a:rPr>
                        <a:t>Mass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0.50 kg</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0">
                <a:tc>
                  <a:txBody>
                    <a:bodyPr/>
                    <a:lstStyle/>
                    <a:p>
                      <a:pPr indent="0" marL="0">
                        <a:buNone/>
                      </a:pPr>
                      <a:r>
                        <a:rPr lang="en-US" sz="1400" dirty="0">
                          <a:solidFill>
                            <a:schemeClr val="tx1"/>
                          </a:solidFill>
                        </a:rPr>
                        <a:t>Arm length</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0.17 m</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0">
                <a:tc>
                  <a:txBody>
                    <a:bodyPr/>
                    <a:lstStyle/>
                    <a:p>
                      <a:pPr indent="0" marL="0">
                        <a:buNone/>
                      </a:pPr>
                      <a:r>
                        <a:rPr lang="en-US" sz="1400" dirty="0">
                          <a:solidFill>
                            <a:schemeClr val="tx1"/>
                          </a:solidFill>
                        </a:rPr>
                        <a:t>Inertia Ixx, Izz</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3.2, 5.5 × 10⁻³ kg m²</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0">
                <a:tc>
                  <a:txBody>
                    <a:bodyPr/>
                    <a:lstStyle/>
                    <a:p>
                      <a:pPr indent="0" marL="0">
                        <a:buNone/>
                      </a:pPr>
                      <a:r>
                        <a:rPr lang="en-US" sz="1400" dirty="0">
                          <a:solidFill>
                            <a:schemeClr val="tx1"/>
                          </a:solidFill>
                        </a:rPr>
                        <a:t>Thrust coefficient κf (f = κf Ω²)</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6.41 × 10⁻⁶ N s²/rad²</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0">
                <a:tc>
                  <a:txBody>
                    <a:bodyPr/>
                    <a:lstStyle/>
                    <a:p>
                      <a:pPr indent="0" marL="0">
                        <a:buNone/>
                      </a:pPr>
                      <a:r>
                        <a:rPr lang="en-US" sz="1400" dirty="0">
                          <a:solidFill>
                            <a:schemeClr val="tx1"/>
                          </a:solidFill>
                        </a:rPr>
                        <a:t>Yaw torque per newton κτ</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0.0169 m</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0">
                <a:tc>
                  <a:txBody>
                    <a:bodyPr/>
                    <a:lstStyle/>
                    <a:p>
                      <a:pPr indent="0" marL="0">
                        <a:buNone/>
                      </a:pPr>
                      <a:r>
                        <a:rPr lang="en-US" sz="1400" dirty="0">
                          <a:solidFill>
                            <a:schemeClr val="tx1"/>
                          </a:solidFill>
                        </a:rPr>
                        <a:t>Yaw air drag γ</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2.75 × 10⁻³ N m s/rad</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7" name="param source"/>
          <p:cNvSpPr txBox="1"/>
          <p:nvPr/>
        </p:nvSpPr>
        <p:spPr>
          <a:xfrm>
            <a:off x="6949440" y="4526280"/>
            <a:ext cx="4663440" cy="320040"/>
          </a:xfrm>
          <a:prstGeom prst="rect">
            <a:avLst/>
          </a:prstGeom>
          <a:noFill/>
          <a:ln/>
        </p:spPr>
        <p:txBody>
          <a:bodyPr wrap="square" lIns="0" tIns="0" rIns="0" bIns="0" rtlCol="0" anchor="t"/>
          <a:lstStyle/>
          <a:p>
            <a:pPr indent="0" marL="0">
              <a:buNone/>
            </a:pPr>
            <a:r>
              <a:rPr lang="en-US" sz="1200" dirty="0">
                <a:solidFill>
                  <a:schemeClr val="accent6"/>
                </a:solidFill>
              </a:rPr>
              <a:t>All values from Mueller &amp; D'Andrea, ICRA 2014, Sec. V-A</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FOUNDATION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The model matches three published papers</a:t>
            </a:r>
            <a:endParaRPr lang="en-US" sz="3000" dirty="0"/>
          </a:p>
        </p:txBody>
      </p:sp>
      <p:graphicFrame>
        <p:nvGraphicFramePr>
          <p:cNvPr id="6" name="validation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194560"/>
                <a:gridCol w="4480560"/>
                <a:gridCol w="4389120"/>
              </a:tblGrid>
              <a:tr h="384048">
                <a:tc>
                  <a:txBody>
                    <a:bodyPr/>
                    <a:lstStyle/>
                    <a:p>
                      <a:pPr indent="0" marL="0">
                        <a:buNone/>
                      </a:pPr>
                      <a:r>
                        <a:rPr lang="en-US" sz="1400" b="1" dirty="0">
                          <a:solidFill>
                            <a:schemeClr val="tx1"/>
                          </a:solidFill>
                        </a:rPr>
                        <a:t>Source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What we compared</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Result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84048">
                <a:tc>
                  <a:txBody>
                    <a:bodyPr/>
                    <a:lstStyle/>
                    <a:p>
                      <a:pPr indent="0" marL="0">
                        <a:buNone/>
                      </a:pPr>
                      <a:r>
                        <a:rPr lang="en-US" sz="1400" dirty="0">
                          <a:solidFill>
                            <a:schemeClr val="tx1"/>
                          </a:solidFill>
                        </a:rPr>
                        <a:t>Mueller &amp; D'Andrea 2014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Two- and three-rotor-loss equilibria</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Every printed digit (≤ 0.8%)</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Mueller &amp; D'Andrea 2014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One-rotor-loss equilibrium</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Thrusts, yaw rate, n_z ≤ 0.5%; pitch rate −6% *</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Mueller &amp; D'Andrea 2016</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Their more detailed model, 5 hover cases (separate code)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Body rates within 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Sun et al. 2021</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Second drone (Parrot Bebop 2), two rotors lost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Equal to the paper's formula</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Flight data</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dirty="0">
                          <a:solidFill>
                            <a:schemeClr val="tx1"/>
                          </a:solidFill>
                        </a:rPr>
                        <a:t>Spin-up to 10 rad/s at the flight thrust (2.95 N)</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0.65 s vs 0.62 s in flight (4%)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bl>
          </a:graphicData>
        </a:graphic>
      </p:graphicFrame>
      <p:sp>
        <p:nvSpPr>
          <p:cNvPr id="6" name="validation note"/>
          <p:cNvSpPr txBox="1"/>
          <p:nvPr/>
        </p:nvSpPr>
        <p:spPr>
          <a:xfrm>
            <a:off x="548640" y="4892040"/>
            <a:ext cx="11064240" cy="640080"/>
          </a:xfrm>
          <a:prstGeom prst="rect">
            <a:avLst/>
          </a:prstGeom>
          <a:noFill/>
          <a:ln/>
        </p:spPr>
        <p:txBody>
          <a:bodyPr wrap="square" lIns="0" tIns="0" rIns="0" bIns="0" rtlCol="0" anchor="t"/>
          <a:lstStyle/>
          <a:p>
            <a:pPr indent="0" marL="0">
              <a:buNone/>
            </a:pPr>
            <a:r>
              <a:rPr lang="en-US" sz="1400" dirty="0">
                <a:solidFill>
                  <a:schemeClr val="accent6"/>
                </a:solidFill>
              </a:rPr>
              <a:t>* The paper's own published values do not satisfy its own roll equation; its other two cases match exactly. </a:t>
            </a:r>
            <a:pPr indent="0" marL="0">
              <a:buNone/>
            </a:pPr>
            <a:r>
              <a:rPr lang="en-US" sz="1400" b="1" dirty="0">
                <a:solidFill>
                  <a:schemeClr val="accent6"/>
                </a:solidFill>
              </a:rPr>
              <a:t>47 automated tests</a:t>
            </a:r>
            <a:pPr indent="0" marL="0">
              <a:buNone/>
            </a:pPr>
            <a:r>
              <a:rPr lang="en-US" sz="1400" dirty="0">
                <a:solidFill>
                  <a:schemeClr val="accent6"/>
                </a:solidFill>
              </a:rPr>
              <a:t> (46 pass; 1 expected failure keeps that inconsistency visible) also check conservation laws, closed-form solutions and these published numbers.</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FOUNDATION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The spinning equilibrium</a:t>
            </a:r>
            <a:endParaRPr lang="en-US" sz="3000" dirty="0"/>
          </a:p>
        </p:txBody>
      </p:sp>
      <p:pic>
        <p:nvPicPr>
          <p:cNvPr id="5" name="e1_rho_sweep.png" descr="Relaxed-hover equilibrium versus thrust ratio rho">    </p:cNvPr>
          <p:cNvPicPr>
            <a:picLocks noChangeAspect="1"/>
          </p:cNvPicPr>
          <p:nvPr/>
        </p:nvPicPr>
        <p:blipFill>
          <a:blip r:embed="rId1"/>
          <a:stretch>
            <a:fillRect/>
          </a:stretch>
        </p:blipFill>
        <p:spPr>
          <a:xfrm>
            <a:off x="548640" y="1508760"/>
            <a:ext cx="6583680" cy="4382956"/>
          </a:xfrm>
          <a:prstGeom prst="rect">
            <a:avLst/>
          </a:prstGeom>
        </p:spPr>
      </p:pic>
      <p:sp>
        <p:nvSpPr>
          <p:cNvPr id="6" name="equilibrium text"/>
          <p:cNvSpPr txBox="1"/>
          <p:nvPr/>
        </p:nvSpPr>
        <p:spPr>
          <a:xfrm>
            <a:off x="7498080" y="1828800"/>
            <a:ext cx="4114800" cy="3657600"/>
          </a:xfrm>
          <a:prstGeom prst="rect">
            <a:avLst/>
          </a:prstGeom>
          <a:noFill/>
          <a:ln/>
        </p:spPr>
        <p:txBody>
          <a:bodyPr wrap="square" lIns="0" tIns="0" rIns="0" bIns="0" rtlCol="0" anchor="t"/>
          <a:lstStyle/>
          <a:p>
            <a:pPr indent="0" marL="0">
              <a:buNone/>
            </a:pPr>
            <a:r>
              <a:rPr lang="en-US" sz="1700" dirty="0">
                <a:solidFill>
                  <a:schemeClr val="tx1"/>
                </a:solidFill>
              </a:rPr>
              <a:t>Rotor 4 lost. f₁ = f₃: the two side rotors; f₂: the rotor opposite the failed one. Design ratio ρ = f₂/f₁ = 0.5:</a:t>
            </a:r>
            <a:endParaRPr lang="en-US" sz="1700" dirty="0"/>
          </a:p>
          <a:p>
            <a:pPr indent="0" marL="0">
              <a:spcBef>
                <a:spcPts val="1200"/>
              </a:spcBef>
              <a:buNone/>
            </a:pPr>
            <a:r>
              <a:rPr lang="en-US" sz="1700" b="1" dirty="0">
                <a:solidFill>
                  <a:schemeClr val="tx2"/>
                </a:solidFill>
              </a:rPr>
              <a:t>f = (2.04, 1.02, 2.04) N</a:t>
            </a:r>
            <a:endParaRPr lang="en-US" sz="1700" dirty="0"/>
          </a:p>
          <a:p>
            <a:pPr indent="0" marL="0">
              <a:buNone/>
            </a:pPr>
            <a:r>
              <a:rPr lang="en-US" sz="1700" b="1" dirty="0">
                <a:solidFill>
                  <a:schemeClr val="tx2"/>
                </a:solidFill>
              </a:rPr>
              <a:t>spin 19.6 rad/s, axis tilted 16°</a:t>
            </a:r>
            <a:endParaRPr lang="en-US" sz="1700" dirty="0"/>
          </a:p>
          <a:p>
            <a:pPr indent="0" marL="0">
              <a:spcBef>
                <a:spcPts val="1600"/>
              </a:spcBef>
              <a:buNone/>
            </a:pPr>
            <a:r>
              <a:rPr lang="en-US" sz="1700" dirty="0">
                <a:solidFill>
                  <a:schemeClr val="tx1"/>
                </a:solidFill>
              </a:rPr>
              <a:t>Thrusts, yaw rate and n_z match the paper within 0.5%; pitch rate and tilt are about 5% lower (see validation).</a:t>
            </a:r>
            <a:endParaRPr lang="en-US" sz="1700" dirty="0"/>
          </a:p>
          <a:p>
            <a:pPr indent="0" marL="0">
              <a:spcBef>
                <a:spcPts val="1600"/>
              </a:spcBef>
              <a:buNone/>
            </a:pPr>
            <a:r>
              <a:rPr lang="en-US" sz="1700" dirty="0">
                <a:solidFill>
                  <a:schemeClr val="tx1"/>
                </a:solidFill>
              </a:rPr>
              <a:t>The figure shows how the equilibrium changes with ρ; it reproduces the paper's Fig. 3 (minimum spin 18.6 vs 19.0 rad/s).</a:t>
            </a:r>
            <a:endParaRPr lang="en-US" sz="17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FOUNDATION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Linear model: controllable, but what can we observe?</a:t>
            </a:r>
            <a:endParaRPr lang="en-US" sz="3000" dirty="0"/>
          </a:p>
        </p:txBody>
      </p:sp>
      <p:sp>
        <p:nvSpPr>
          <p:cNvPr id="5" name="linear model text"/>
          <p:cNvSpPr txBox="1"/>
          <p:nvPr/>
        </p:nvSpPr>
        <p:spPr>
          <a:xfrm>
            <a:off x="548640" y="1600200"/>
            <a:ext cx="4754880" cy="3291840"/>
          </a:xfrm>
          <a:prstGeom prst="rect">
            <a:avLst/>
          </a:prstGeom>
          <a:noFill/>
          <a:ln/>
        </p:spPr>
        <p:txBody>
          <a:bodyPr wrap="square" lIns="0" tIns="0" rIns="0" bIns="0" rtlCol="0" anchor="t"/>
          <a:lstStyle/>
          <a:p>
            <a:pPr indent="0" marL="0">
              <a:buNone/>
            </a:pPr>
            <a:r>
              <a:rPr lang="en-US" sz="1700" dirty="0">
                <a:solidFill>
                  <a:schemeClr val="tx1"/>
                </a:solidFill>
              </a:rPr>
              <a:t>7 states (p, q, r, n_x, n_y, z, v_z), inputs f₁, f₂, f₃. Linear and time-invariant in body axes.</a:t>
            </a:r>
            <a:endParaRPr lang="en-US" sz="1700" dirty="0"/>
          </a:p>
          <a:p>
            <a:pPr indent="0" marL="0">
              <a:spcBef>
                <a:spcPts val="1200"/>
              </a:spcBef>
              <a:buNone/>
            </a:pPr>
            <a:r>
              <a:rPr lang="en-US" sz="1700" dirty="0">
                <a:solidFill>
                  <a:schemeClr val="tx1"/>
                </a:solidFill>
              </a:rPr>
              <a:t>Open-loop modes: ±10.1j, ±19.6j, −0.51 and an altitude double integrator.</a:t>
            </a:r>
            <a:endParaRPr lang="en-US" sz="1700" dirty="0"/>
          </a:p>
          <a:p>
            <a:pPr indent="0" marL="0">
              <a:spcBef>
                <a:spcPts val="1200"/>
              </a:spcBef>
              <a:buNone/>
            </a:pPr>
            <a:r>
              <a:rPr lang="en-US" sz="1700" b="1" dirty="0">
                <a:solidFill>
                  <a:schemeClr val="tx1"/>
                </a:solidFill>
              </a:rPr>
              <a:t>Controllable: </a:t>
            </a:r>
            <a:pPr indent="0" marL="0">
              <a:buNone/>
            </a:pPr>
            <a:r>
              <a:rPr lang="en-US" sz="1700" dirty="0">
                <a:solidFill>
                  <a:schemeClr val="tx1"/>
                </a:solidFill>
              </a:rPr>
              <a:t>the three rotors can steer all 7 states (controllability rank 7 of 7; every mode can be influenced, PBH test).</a:t>
            </a:r>
            <a:endParaRPr lang="en-US" sz="1700" dirty="0"/>
          </a:p>
        </p:txBody>
      </p:sp>
      <p:graphicFrame>
        <p:nvGraphicFramePr>
          <p:cNvPr id="8" name="observability table"/>
          <p:cNvGraphicFramePr>
            <a:graphicFrameLocks noGrp="1"/>
          </p:cNvGraphicFramePr>
          <p:nvPr>
            <p:extLst>
              <p:ext uri="{D42A27DB-BD31-4B8C-83A1-F6EECF244321}">
                <p14:modId xmlns:p14="http://schemas.microsoft.com/office/powerpoint/2010/main" val="1579011935"/>
              </p:ext>
            </p:extLst>
          </p:nvPr>
        </p:nvGraphicFramePr>
        <p:xfrm>
          <a:off x="5760720" y="1600200"/>
          <a:ext cx="5852160" cy="914400"/>
        </p:xfrm>
        <a:graphic>
          <a:graphicData uri="http://schemas.openxmlformats.org/drawingml/2006/table">
            <a:tbl>
              <a:tblPr/>
              <a:tblGrid>
                <a:gridCol w="2743200"/>
                <a:gridCol w="1097280"/>
                <a:gridCol w="2011680"/>
              </a:tblGrid>
              <a:tr h="384048">
                <a:tc>
                  <a:txBody>
                    <a:bodyPr/>
                    <a:lstStyle/>
                    <a:p>
                      <a:pPr indent="0" marL="0">
                        <a:buNone/>
                      </a:pPr>
                      <a:r>
                        <a:rPr lang="en-US" sz="1400" b="1" dirty="0">
                          <a:solidFill>
                            <a:schemeClr val="tx1"/>
                          </a:solidFill>
                        </a:rPr>
                        <a:t>Sensors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Observable (of 7)</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Cannot see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84048">
                <a:tc>
                  <a:txBody>
                    <a:bodyPr/>
                    <a:lstStyle/>
                    <a:p>
                      <a:pPr indent="0" marL="0">
                        <a:buNone/>
                      </a:pPr>
                      <a:r>
                        <a:rPr lang="en-US" sz="1400" dirty="0">
                          <a:solidFill>
                            <a:schemeClr val="tx1"/>
                          </a:solidFill>
                        </a:rPr>
                        <a:t>Gyro</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3 / 7</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tilt, altitude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Gyro + tilt estimate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5 / 7</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altitude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Gyro + barometer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dirty="0">
                          <a:solidFill>
                            <a:schemeClr val="tx1"/>
                          </a:solidFill>
                        </a:rPr>
                        <a:t>7 / 7</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dirty="0">
                          <a:solidFill>
                            <a:schemeClr val="tx1"/>
                          </a:solidFill>
                        </a:rPr>
                        <a:t>none (weak)</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84048">
                <a:tc>
                  <a:txBody>
                    <a:bodyPr/>
                    <a:lstStyle/>
                    <a:p>
                      <a:pPr indent="0" marL="0">
                        <a:buNone/>
                      </a:pPr>
                      <a:r>
                        <a:rPr lang="en-US" sz="1400" dirty="0">
                          <a:solidFill>
                            <a:schemeClr val="tx1"/>
                          </a:solidFill>
                        </a:rPr>
                        <a:t>Gyro + tilt + barometer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7 / 7</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none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7" name="observability note"/>
          <p:cNvSpPr txBox="1"/>
          <p:nvPr/>
        </p:nvSpPr>
        <p:spPr>
          <a:xfrm>
            <a:off x="5760720" y="3794760"/>
            <a:ext cx="5852160" cy="1097280"/>
          </a:xfrm>
          <a:prstGeom prst="rect">
            <a:avLst/>
          </a:prstGeom>
          <a:noFill/>
          <a:ln/>
        </p:spPr>
        <p:txBody>
          <a:bodyPr wrap="square" lIns="0" tIns="0" rIns="0" bIns="0" rtlCol="0" anchor="t"/>
          <a:lstStyle/>
          <a:p>
            <a:pPr indent="0" marL="0">
              <a:buNone/>
            </a:pPr>
            <a:r>
              <a:rPr lang="en-US" sz="1500" dirty="0">
                <a:solidFill>
                  <a:schemeClr val="accent6"/>
                </a:solidFill>
              </a:rPr>
              <a:t>The equilibrium is tilted, so vertical acceleration depends on tilt. A barometer then reveals the tilt in principle, but with realistic sensor noise the weakest direction is about 2,700× less visible than with a tilt sensor (smallest observability-Gramian eigenvalue).</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FOUNDATION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LQR baseline at the spinning equilibrium</a:t>
            </a:r>
            <a:endParaRPr lang="en-US" sz="3000" dirty="0"/>
          </a:p>
        </p:txBody>
      </p:sp>
      <p:sp>
        <p:nvSpPr>
          <p:cNvPr id="5" name="stat 18 ms"/>
          <p:cNvSpPr txBox="1"/>
          <p:nvPr/>
        </p:nvSpPr>
        <p:spPr>
          <a:xfrm>
            <a:off x="548640" y="1508760"/>
            <a:ext cx="3566160" cy="1005840"/>
          </a:xfrm>
          <a:prstGeom prst="rect">
            <a:avLst/>
          </a:prstGeom>
          <a:noFill/>
          <a:ln/>
        </p:spPr>
        <p:txBody>
          <a:bodyPr wrap="square" lIns="0" tIns="0" rIns="0" bIns="0" rtlCol="0" anchor="t"/>
          <a:lstStyle/>
          <a:p>
            <a:pPr indent="0" marL="0">
              <a:buNone/>
            </a:pPr>
            <a:r>
              <a:rPr lang="en-US" sz="3600" b="1" dirty="0">
                <a:solidFill>
                  <a:schemeClr val="tx2"/>
                </a:solidFill>
              </a:rPr>
              <a:t>18 ms</a:t>
            </a:r>
            <a:endParaRPr lang="en-US" sz="1600" dirty="0"/>
          </a:p>
          <a:p>
            <a:pPr indent="0" marL="0">
              <a:buNone/>
            </a:pPr>
            <a:r>
              <a:rPr lang="en-US" sz="1300" dirty="0">
                <a:solidFill>
                  <a:schemeClr val="accent6"/>
                </a:solidFill>
              </a:rPr>
              <a:t>input-delay margin (healthy LQR: 40 ms)</a:t>
            </a:r>
            <a:endParaRPr lang="en-US" sz="1600" dirty="0"/>
          </a:p>
        </p:txBody>
      </p:sp>
      <p:sp>
        <p:nvSpPr>
          <p:cNvPr id="6" name="stat ζ ≈ 0.19"/>
          <p:cNvSpPr txBox="1"/>
          <p:nvPr/>
        </p:nvSpPr>
        <p:spPr>
          <a:xfrm>
            <a:off x="4297680" y="1508760"/>
            <a:ext cx="3566160" cy="1005840"/>
          </a:xfrm>
          <a:prstGeom prst="rect">
            <a:avLst/>
          </a:prstGeom>
          <a:noFill/>
          <a:ln/>
        </p:spPr>
        <p:txBody>
          <a:bodyPr wrap="square" lIns="0" tIns="0" rIns="0" bIns="0" rtlCol="0" anchor="t"/>
          <a:lstStyle/>
          <a:p>
            <a:pPr indent="0" marL="0">
              <a:buNone/>
            </a:pPr>
            <a:r>
              <a:rPr lang="en-US" sz="3600" b="1" dirty="0">
                <a:solidFill>
                  <a:schemeClr val="tx2"/>
                </a:solidFill>
              </a:rPr>
              <a:t>ζ ≈ 0.19</a:t>
            </a:r>
            <a:endParaRPr lang="en-US" sz="1600" dirty="0"/>
          </a:p>
          <a:p>
            <a:pPr indent="0" marL="0">
              <a:buNone/>
            </a:pPr>
            <a:r>
              <a:rPr lang="en-US" sz="1300" dirty="0">
                <a:solidFill>
                  <a:schemeClr val="accent6"/>
                </a:solidFill>
              </a:rPr>
              <a:t>damping of the least-damped mode</a:t>
            </a:r>
            <a:endParaRPr lang="en-US" sz="1600" dirty="0"/>
          </a:p>
        </p:txBody>
      </p:sp>
      <p:sp>
        <p:nvSpPr>
          <p:cNvPr id="7" name="stat 1.8–2.5 s"/>
          <p:cNvSpPr txBox="1"/>
          <p:nvPr/>
        </p:nvSpPr>
        <p:spPr>
          <a:xfrm>
            <a:off x="8046720" y="1508760"/>
            <a:ext cx="3566160" cy="1005840"/>
          </a:xfrm>
          <a:prstGeom prst="rect">
            <a:avLst/>
          </a:prstGeom>
          <a:noFill/>
          <a:ln/>
        </p:spPr>
        <p:txBody>
          <a:bodyPr wrap="square" lIns="0" tIns="0" rIns="0" bIns="0" rtlCol="0" anchor="t"/>
          <a:lstStyle/>
          <a:p>
            <a:pPr indent="0" marL="0">
              <a:buNone/>
            </a:pPr>
            <a:r>
              <a:rPr lang="en-US" sz="3600" b="1" dirty="0">
                <a:solidFill>
                  <a:schemeClr val="tx2"/>
                </a:solidFill>
              </a:rPr>
              <a:t>1.8–2.5 s</a:t>
            </a:r>
            <a:endParaRPr lang="en-US" sz="1600" dirty="0"/>
          </a:p>
          <a:p>
            <a:pPr indent="0" marL="0">
              <a:buNone/>
            </a:pPr>
            <a:r>
              <a:rPr lang="en-US" sz="1300" dirty="0">
                <a:solidFill>
                  <a:schemeClr val="accent6"/>
                </a:solidFill>
              </a:rPr>
              <a:t>to settle altitude, tilt and yaw rate</a:t>
            </a:r>
            <a:endParaRPr lang="en-US" sz="1600" dirty="0"/>
          </a:p>
        </p:txBody>
      </p:sp>
      <p:pic>
        <p:nvPicPr>
          <p:cNvPr id="8" name="e3_failed_lqr_nonlinear.png" descr="Failure-mode LQR on the nonlinear model converging to the equilibrium">    </p:cNvPr>
          <p:cNvPicPr>
            <a:picLocks noChangeAspect="1"/>
          </p:cNvPicPr>
          <p:nvPr/>
        </p:nvPicPr>
        <p:blipFill>
          <a:blip r:embed="rId1"/>
          <a:stretch>
            <a:fillRect/>
          </a:stretch>
        </p:blipFill>
        <p:spPr>
          <a:xfrm>
            <a:off x="822960" y="2743200"/>
            <a:ext cx="10515600" cy="3102565"/>
          </a:xfrm>
          <a:prstGeom prst="rect">
            <a:avLst/>
          </a:prstGeom>
        </p:spPr>
      </p:pic>
      <p:sp>
        <p:nvSpPr>
          <p:cNvPr id="9" name="lqr source"/>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200" dirty="0">
                <a:solidFill>
                  <a:schemeClr val="accent6"/>
                </a:solidFill>
              </a:rPr>
              <a:t>Nonlinear simulation from 1 m below the set-point with rate and tilt errors, rotor 4 off, motor lag and thrust limits. Weights from Mueller &amp; D'Andrea, plus motor states and altitude. The delay margin is less than half the healthy value: the spinning drone is much less forgiving.</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10515600" cy="365760"/>
          </a:xfrm>
          <a:prstGeom prst="rect">
            <a:avLst/>
          </a:prstGeom>
          <a:noFill/>
          <a:ln/>
        </p:spPr>
        <p:txBody>
          <a:bodyPr wrap="square" lIns="0" tIns="0" rIns="0" bIns="0" rtlCol="0"/>
          <a:lstStyle/>
          <a:p>
            <a:pPr indent="0" marL="0">
              <a:buNone/>
            </a:pPr>
            <a:r>
              <a:rPr lang="en-US" sz="1400" b="1" spc="100" kern="0" dirty="0">
                <a:solidFill>
                  <a:schemeClr val="accent3"/>
                </a:solidFill>
              </a:rPr>
              <a:t>THE APPROACH</a:t>
            </a:r>
            <a:endParaRPr lang="en-US" sz="1400" dirty="0"/>
          </a:p>
        </p:txBody>
      </p:sp>
      <p:sp>
        <p:nvSpPr>
          <p:cNvPr id="3" name="Text 0"/>
          <p:cNvSpPr/>
          <p:nvPr>
            <p:ph idx="101" type="title" hasCustomPrompt="1"/>
          </p:nvPr>
        </p:nvSpPr>
        <p:spPr>
          <a:xfrm>
            <a:off x="731520" y="2240280"/>
            <a:ext cx="10698480" cy="1737360"/>
          </a:xfrm>
          <a:prstGeom prst="rect">
            <a:avLst/>
          </a:prstGeom>
          <a:noFill/>
          <a:ln/>
        </p:spPr>
        <p:txBody>
          <a:bodyPr wrap="square" lIns="0" tIns="0" rIns="0" bIns="0" rtlCol="0" anchor="t"/>
          <a:lstStyle/>
          <a:p>
            <a:pPr algn="l" indent="0" marL="0">
              <a:buNone/>
            </a:pPr>
            <a:r>
              <a:rPr lang="en-US" sz="4000" b="1" dirty="0">
                <a:solidFill>
                  <a:schemeClr val="bg1"/>
                </a:solidFill>
              </a:rPr>
              <a:t>Residual Koopman models of the failed vehicle</a:t>
            </a:r>
            <a:endParaRPr lang="en-US" sz="4000" dirty="0"/>
          </a:p>
        </p:txBody>
      </p:sp>
      <p:sp>
        <p:nvSpPr>
          <p:cNvPr id="4" name="Text 0"/>
          <p:cNvSpPr/>
          <p:nvPr>
            <p:ph idx="102" type="body" hasCustomPrompt="1"/>
          </p:nvPr>
        </p:nvSpPr>
        <p:spPr>
          <a:xfrm>
            <a:off x="731520" y="4069080"/>
            <a:ext cx="10515600" cy="914400"/>
          </a:xfrm>
          <a:prstGeom prst="rect">
            <a:avLst/>
          </a:prstGeom>
          <a:noFill/>
          <a:ln/>
        </p:spPr>
        <p:txBody>
          <a:bodyPr wrap="square" lIns="0" tIns="0" rIns="0" bIns="0" rtlCol="0" anchor="t"/>
          <a:lstStyle/>
          <a:p>
            <a:pPr indent="0" marL="0">
              <a:buNone/>
            </a:pPr>
            <a:r>
              <a:rPr lang="en-US" sz="2000" dirty="0">
                <a:solidFill>
                  <a:schemeClr val="accent3"/>
                </a:solidFill>
              </a:rPr>
              <a:t>Learn only what the physics model gets wrong, then use it inside a convex MPC.</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SET-UP</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Three predictors, same data</a:t>
            </a:r>
            <a:endParaRPr lang="en-US" sz="3000" dirty="0"/>
          </a:p>
        </p:txBody>
      </p:sp>
      <p:sp>
        <p:nvSpPr>
          <p:cNvPr id="5" name="predictor 1"/>
          <p:cNvSpPr txBox="1"/>
          <p:nvPr/>
        </p:nvSpPr>
        <p:spPr>
          <a:xfrm>
            <a:off x="548640" y="1600200"/>
            <a:ext cx="3520440" cy="2103120"/>
          </a:xfrm>
          <a:prstGeom prst="roundRect">
            <a:avLst>
              <a:gd name="adj" fmla="val 3478"/>
            </a:avLst>
          </a:prstGeom>
          <a:solidFill>
            <a:schemeClr val="bg2"/>
          </a:solidFill>
          <a:ln w="9525">
            <a:solidFill>
              <a:schemeClr val="bg2"/>
            </a:solidFill>
          </a:ln>
        </p:spPr>
        <p:txBody>
          <a:bodyPr wrap="square" lIns="152400" tIns="152400" rIns="152400" bIns="152400" rtlCol="0" anchor="t"/>
          <a:lstStyle/>
          <a:p>
            <a:pPr indent="0" marL="0">
              <a:buNone/>
            </a:pPr>
            <a:r>
              <a:rPr lang="en-US" sz="2000" b="1" dirty="0">
                <a:solidFill>
                  <a:schemeClr val="tx2"/>
                </a:solidFill>
              </a:rPr>
              <a:t>Analytical</a:t>
            </a:r>
            <a:endParaRPr lang="en-US" sz="1600" dirty="0"/>
          </a:p>
          <a:p>
            <a:pPr indent="0" marL="0">
              <a:spcBef>
                <a:spcPts val="800"/>
              </a:spcBef>
              <a:buNone/>
            </a:pPr>
            <a:r>
              <a:rPr lang="en-US" sz="1600" dirty="0">
                <a:solidFill>
                  <a:schemeClr val="tx1"/>
                </a:solidFill>
              </a:rPr>
              <a:t>Mueller &amp; D'Andrea linear model about the spinning equilibrium. No data.</a:t>
            </a:r>
            <a:endParaRPr lang="en-US" sz="1600" dirty="0"/>
          </a:p>
          <a:p>
            <a:pPr indent="0" marL="0">
              <a:spcBef>
                <a:spcPts val="800"/>
              </a:spcBef>
              <a:buNone/>
            </a:pPr>
            <a:r>
              <a:rPr lang="en-US" sz="1600" dirty="0">
                <a:solidFill>
                  <a:schemeClr val="tx1"/>
                </a:solidFill>
              </a:rPr>
              <a:t>x⁺ = A_d x + B_d u</a:t>
            </a:r>
            <a:endParaRPr lang="en-US" sz="1600" dirty="0"/>
          </a:p>
        </p:txBody>
      </p:sp>
      <p:sp>
        <p:nvSpPr>
          <p:cNvPr id="6" name="predictor 2"/>
          <p:cNvSpPr txBox="1"/>
          <p:nvPr/>
        </p:nvSpPr>
        <p:spPr>
          <a:xfrm>
            <a:off x="4297680" y="1600200"/>
            <a:ext cx="3520440" cy="2103120"/>
          </a:xfrm>
          <a:prstGeom prst="roundRect">
            <a:avLst>
              <a:gd name="adj" fmla="val 3478"/>
            </a:avLst>
          </a:prstGeom>
          <a:solidFill>
            <a:schemeClr val="bg2"/>
          </a:solidFill>
          <a:ln w="9525">
            <a:solidFill>
              <a:schemeClr val="bg2"/>
            </a:solidFill>
          </a:ln>
        </p:spPr>
        <p:txBody>
          <a:bodyPr wrap="square" lIns="152400" tIns="152400" rIns="152400" bIns="152400" rtlCol="0" anchor="t"/>
          <a:lstStyle/>
          <a:p>
            <a:pPr indent="0" marL="0">
              <a:buNone/>
            </a:pPr>
            <a:r>
              <a:rPr lang="en-US" sz="2000" b="1" dirty="0">
                <a:solidFill>
                  <a:schemeClr val="tx2"/>
                </a:solidFill>
              </a:rPr>
              <a:t>Full-state EDMDc</a:t>
            </a:r>
            <a:endParaRPr lang="en-US" sz="1600" dirty="0"/>
          </a:p>
          <a:p>
            <a:pPr indent="0" marL="0">
              <a:spcBef>
                <a:spcPts val="800"/>
              </a:spcBef>
              <a:buNone/>
            </a:pPr>
            <a:r>
              <a:rPr lang="en-US" sz="1600" dirty="0">
                <a:solidFill>
                  <a:schemeClr val="tx1"/>
                </a:solidFill>
              </a:rPr>
              <a:t>Learns everything: 55 features of the state (constant, states, all pairwise products), linear model on them.</a:t>
            </a:r>
            <a:endParaRPr lang="en-US" sz="1600" dirty="0"/>
          </a:p>
          <a:p>
            <a:pPr indent="0" marL="0">
              <a:spcBef>
                <a:spcPts val="800"/>
              </a:spcBef>
              <a:buNone/>
            </a:pPr>
            <a:r>
              <a:rPr lang="en-US" sz="1600" dirty="0">
                <a:solidFill>
                  <a:schemeClr val="tx1"/>
                </a:solidFill>
              </a:rPr>
              <a:t>ζ⁺ = A ζ + B u</a:t>
            </a:r>
            <a:endParaRPr lang="en-US" sz="1600" dirty="0"/>
          </a:p>
        </p:txBody>
      </p:sp>
      <p:sp>
        <p:nvSpPr>
          <p:cNvPr id="7" name="predictor 3"/>
          <p:cNvSpPr txBox="1"/>
          <p:nvPr/>
        </p:nvSpPr>
        <p:spPr>
          <a:xfrm>
            <a:off x="8046720" y="1600200"/>
            <a:ext cx="3520440" cy="2103120"/>
          </a:xfrm>
          <a:prstGeom prst="roundRect">
            <a:avLst>
              <a:gd name="adj" fmla="val 3478"/>
            </a:avLst>
          </a:prstGeom>
          <a:solidFill>
            <a:schemeClr val="accent4"/>
          </a:solidFill>
          <a:ln w="19050">
            <a:solidFill>
              <a:schemeClr val="accent1"/>
            </a:solidFill>
          </a:ln>
        </p:spPr>
        <p:txBody>
          <a:bodyPr wrap="square" lIns="152400" tIns="152400" rIns="152400" bIns="152400" rtlCol="0" anchor="t"/>
          <a:lstStyle/>
          <a:p>
            <a:pPr indent="0" marL="0">
              <a:buNone/>
            </a:pPr>
            <a:r>
              <a:rPr lang="en-US" sz="2000" b="1" dirty="0">
                <a:solidFill>
                  <a:schemeClr val="tx2"/>
                </a:solidFill>
              </a:rPr>
              <a:t>Residual (proposed)</a:t>
            </a:r>
            <a:endParaRPr lang="en-US" sz="1600" dirty="0"/>
          </a:p>
          <a:p>
            <a:pPr indent="0" marL="0">
              <a:spcBef>
                <a:spcPts val="800"/>
              </a:spcBef>
              <a:buNone/>
            </a:pPr>
            <a:r>
              <a:rPr lang="en-US" sz="1600" dirty="0">
                <a:solidFill>
                  <a:schemeClr val="tx1"/>
                </a:solidFill>
              </a:rPr>
              <a:t>Physics model plus a learned one-step correction, clipped at d_max (99.5th percentile of the training errors).</a:t>
            </a:r>
            <a:endParaRPr lang="en-US" sz="1600" dirty="0"/>
          </a:p>
          <a:p>
            <a:pPr indent="0" marL="0">
              <a:spcBef>
                <a:spcPts val="800"/>
              </a:spcBef>
              <a:buNone/>
            </a:pPr>
            <a:r>
              <a:rPr lang="en-US" sz="1600" dirty="0">
                <a:solidFill>
                  <a:schemeClr val="tx1"/>
                </a:solidFill>
              </a:rPr>
              <a:t>x⁺ = A_d x + B_d u + clip(Wᵀψ(x, u))</a:t>
            </a:r>
            <a:endParaRPr lang="en-US" sz="1600" dirty="0"/>
          </a:p>
        </p:txBody>
      </p:sp>
      <p:sp>
        <p:nvSpPr>
          <p:cNvPr id="8" name="data description"/>
          <p:cNvSpPr txBox="1"/>
          <p:nvPr/>
        </p:nvSpPr>
        <p:spPr>
          <a:xfrm>
            <a:off x="548640" y="4069080"/>
            <a:ext cx="11064240" cy="1097280"/>
          </a:xfrm>
          <a:prstGeom prst="rect">
            <a:avLst/>
          </a:prstGeom>
          <a:noFill/>
          <a:ln/>
        </p:spPr>
        <p:txBody>
          <a:bodyPr wrap="square" lIns="0" tIns="0" rIns="0" bIns="0" rtlCol="0" anchor="t"/>
          <a:lstStyle/>
          <a:p>
            <a:pPr indent="0" marL="0">
              <a:buNone/>
            </a:pPr>
            <a:r>
              <a:rPr lang="en-US" sz="1700" b="1" dirty="0">
                <a:solidFill>
                  <a:schemeClr val="tx1"/>
                </a:solidFill>
              </a:rPr>
              <a:t>Data: </a:t>
            </a:r>
            <a:pPr indent="0" marL="0">
              <a:buNone/>
            </a:pPr>
            <a:r>
              <a:rPr lang="en-US" sz="1700" dirty="0">
                <a:solidFill>
                  <a:schemeClr val="tx1"/>
                </a:solidFill>
              </a:rPr>
              <a:t>40 episodes × 4 s at 5 ms, from a truth plant with effects the model lacks (thrust loss at high spin, inertia error, slower motors). </a:t>
            </a:r>
            <a:pPr indent="0" marL="0">
              <a:buNone/>
            </a:pPr>
            <a:r>
              <a:rPr lang="en-US" sz="1700" b="1" dirty="0">
                <a:solidFill>
                  <a:schemeClr val="tx1"/>
                </a:solidFill>
              </a:rPr>
              <a:t>Test: </a:t>
            </a:r>
            <a:pPr indent="0" marL="0">
              <a:buNone/>
            </a:pPr>
            <a:r>
              <a:rPr lang="en-US" sz="1700" dirty="0">
                <a:solidFill>
                  <a:schemeClr val="tx1"/>
                </a:solidFill>
              </a:rPr>
              <a:t>10 new episodes from the same plant (A) and 10 from a different one (B).</a:t>
            </a:r>
            <a:endParaRPr lang="en-US" sz="17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PREDICTION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From 100 ms to 1 s, the residual model predicts best</a:t>
            </a:r>
            <a:endParaRPr lang="en-US" sz="3000" dirty="0"/>
          </a:p>
        </p:txBody>
      </p:sp>
      <p:pic>
        <p:nvPicPr>
          <p:cNvPr id="5" name="e6_multistep_error.png" descr="Multi-step prediction error versus horizon, four panels">    </p:cNvPr>
          <p:cNvPicPr>
            <a:picLocks noChangeAspect="1"/>
          </p:cNvPicPr>
          <p:nvPr/>
        </p:nvPicPr>
        <p:blipFill>
          <a:blip r:embed="rId1"/>
          <a:stretch>
            <a:fillRect/>
          </a:stretch>
        </p:blipFill>
        <p:spPr>
          <a:xfrm>
            <a:off x="548640" y="1463040"/>
            <a:ext cx="6949440" cy="4404395"/>
          </a:xfrm>
          <a:prstGeom prst="rect">
            <a:avLst/>
          </a:prstGeom>
        </p:spPr>
      </p:pic>
      <p:sp>
        <p:nvSpPr>
          <p:cNvPr id="6" name="table caption"/>
          <p:cNvSpPr txBox="1"/>
          <p:nvPr/>
        </p:nvSpPr>
        <p:spPr>
          <a:xfrm>
            <a:off x="7818120" y="1463040"/>
            <a:ext cx="3794760" cy="685800"/>
          </a:xfrm>
          <a:prstGeom prst="rect">
            <a:avLst/>
          </a:prstGeom>
          <a:noFill/>
          <a:ln/>
        </p:spPr>
        <p:txBody>
          <a:bodyPr wrap="square" lIns="0" tIns="0" rIns="0" bIns="0" rtlCol="0" anchor="t"/>
          <a:lstStyle/>
          <a:p>
            <a:pPr indent="0" marL="0">
              <a:buNone/>
            </a:pPr>
            <a:r>
              <a:rPr lang="en-US" sz="1300" dirty="0">
                <a:solidFill>
                  <a:schemeClr val="accent6"/>
                </a:solidFill>
              </a:rPr>
              <a:t>Error at a 1 s horizon on new data from plant A (normalized RMSE: error ÷ each state's typical spread; 1 = as large as normal variation):</a:t>
            </a:r>
            <a:endParaRPr lang="en-US" sz="1300" dirty="0"/>
          </a:p>
        </p:txBody>
      </p:sp>
      <p:graphicFrame>
        <p:nvGraphicFramePr>
          <p:cNvPr id="12" name="prediction table"/>
          <p:cNvGraphicFramePr>
            <a:graphicFrameLocks noGrp="1"/>
          </p:cNvGraphicFramePr>
          <p:nvPr>
            <p:extLst>
              <p:ext uri="{D42A27DB-BD31-4B8C-83A1-F6EECF244321}">
                <p14:modId xmlns:p14="http://schemas.microsoft.com/office/powerpoint/2010/main" val="1579011935"/>
              </p:ext>
            </p:extLst>
          </p:nvPr>
        </p:nvGraphicFramePr>
        <p:xfrm>
          <a:off x="7818120" y="2148840"/>
          <a:ext cx="3794760" cy="914400"/>
        </p:xfrm>
        <a:graphic>
          <a:graphicData uri="http://schemas.openxmlformats.org/drawingml/2006/table">
            <a:tbl>
              <a:tblPr/>
              <a:tblGrid>
                <a:gridCol w="2697480"/>
                <a:gridCol w="1097280"/>
              </a:tblGrid>
              <a:tr h="384048">
                <a:tc>
                  <a:txBody>
                    <a:bodyPr/>
                    <a:lstStyle/>
                    <a:p>
                      <a:pPr indent="0" marL="0">
                        <a:buNone/>
                      </a:pPr>
                      <a:r>
                        <a:rPr lang="en-US" sz="1400" b="1" dirty="0">
                          <a:solidFill>
                            <a:schemeClr val="tx1"/>
                          </a:solidFill>
                        </a:rPr>
                        <a:t>Predictor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algn="r" indent="0" marL="0">
                        <a:buNone/>
                      </a:pPr>
                      <a:r>
                        <a:rPr lang="en-US" sz="1400" b="1" dirty="0">
                          <a:solidFill>
                            <a:schemeClr val="tx1"/>
                          </a:solidFill>
                        </a:rPr>
                        <a:t>Error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84048">
                <a:tc>
                  <a:txBody>
                    <a:bodyPr/>
                    <a:lstStyle/>
                    <a:p>
                      <a:pPr indent="0" marL="0">
                        <a:buNone/>
                      </a:pPr>
                      <a:r>
                        <a:rPr lang="en-US" sz="1400" b="1" dirty="0">
                          <a:solidFill>
                            <a:schemeClr val="tx1"/>
                          </a:solidFill>
                        </a:rPr>
                        <a:t>Residual EDMDc</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algn="r" indent="0" marL="0">
                        <a:buNone/>
                      </a:pPr>
                      <a:r>
                        <a:rPr lang="en-US" sz="1400" b="1" dirty="0">
                          <a:solidFill>
                            <a:schemeClr val="tx1"/>
                          </a:solidFill>
                        </a:rPr>
                        <a:t>0.64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84048">
                <a:tc>
                  <a:txBody>
                    <a:bodyPr/>
                    <a:lstStyle/>
                    <a:p>
                      <a:pPr indent="0" marL="0">
                        <a:buNone/>
                      </a:pPr>
                      <a:r>
                        <a:rPr lang="en-US" sz="1400" dirty="0">
                          <a:solidFill>
                            <a:schemeClr val="tx1"/>
                          </a:solidFill>
                        </a:rPr>
                        <a:t>Full-state EDMDc</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400" dirty="0">
                          <a:solidFill>
                            <a:schemeClr val="tx1"/>
                          </a:solidFill>
                        </a:rPr>
                        <a:t>0.91</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"No change" baseline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400" dirty="0">
                          <a:solidFill>
                            <a:schemeClr val="tx1"/>
                          </a:solidFill>
                        </a:rPr>
                        <a:t>2.38</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Analytical model</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400" dirty="0">
                          <a:solidFill>
                            <a:schemeClr val="tx1"/>
                          </a:solidFill>
                        </a:rPr>
                        <a:t>7.09</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8" name="prediction note"/>
          <p:cNvSpPr txBox="1"/>
          <p:nvPr/>
        </p:nvSpPr>
        <p:spPr>
          <a:xfrm>
            <a:off x="7818120" y="4297680"/>
            <a:ext cx="3794760" cy="1371600"/>
          </a:xfrm>
          <a:prstGeom prst="rect">
            <a:avLst/>
          </a:prstGeom>
          <a:noFill/>
          <a:ln/>
        </p:spPr>
        <p:txBody>
          <a:bodyPr wrap="square" lIns="0" tIns="0" rIns="0" bIns="0" rtlCol="0" anchor="t"/>
          <a:lstStyle/>
          <a:p>
            <a:pPr indent="0" marL="0">
              <a:buNone/>
            </a:pPr>
            <a:r>
              <a:rPr lang="en-US" sz="1500" dirty="0">
                <a:solidFill>
                  <a:schemeClr val="tx1"/>
                </a:solidFill>
              </a:rPr>
              <a:t>Below 100 ms the full-state model is better (2.5× at 20 ms); it has 4 of 55 eigenvalues just outside the unit circle and falls behind "no change" by 2 s, as we hypothesised. Beyond about 2 s "no change" beats every model. The physics model drifts in open loop (undamped modes, unmodelled thrust loss) but works in closed loop.</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LIMITS</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Little data needed, no generalization yet</a:t>
            </a:r>
            <a:endParaRPr lang="en-US" sz="3000" dirty="0"/>
          </a:p>
        </p:txBody>
      </p:sp>
      <p:pic>
        <p:nvPicPr>
          <p:cNvPr id="5" name="e6_data_efficiency.png" descr="Prediction error at 0.5 s versus number of training episodes">    </p:cNvPr>
          <p:cNvPicPr>
            <a:picLocks noChangeAspect="1"/>
          </p:cNvPicPr>
          <p:nvPr/>
        </p:nvPicPr>
        <p:blipFill>
          <a:blip r:embed="rId1"/>
          <a:stretch>
            <a:fillRect/>
          </a:stretch>
        </p:blipFill>
        <p:spPr>
          <a:xfrm>
            <a:off x="548640" y="1508760"/>
            <a:ext cx="5852160" cy="3730885"/>
          </a:xfrm>
          <a:prstGeom prst="rect">
            <a:avLst/>
          </a:prstGeom>
        </p:spPr>
      </p:pic>
      <p:sp>
        <p:nvSpPr>
          <p:cNvPr id="6" name="limit 1"/>
          <p:cNvSpPr txBox="1"/>
          <p:nvPr/>
        </p:nvSpPr>
        <p:spPr>
          <a:xfrm>
            <a:off x="6766560" y="1554480"/>
            <a:ext cx="4846320" cy="1143000"/>
          </a:xfrm>
          <a:prstGeom prst="rect">
            <a:avLst/>
          </a:prstGeom>
          <a:noFill/>
          <a:ln/>
        </p:spPr>
        <p:txBody>
          <a:bodyPr wrap="square" lIns="0" tIns="0" rIns="0" bIns="0" rtlCol="0" anchor="t"/>
          <a:lstStyle/>
          <a:p>
            <a:pPr indent="0" marL="0">
              <a:buNone/>
            </a:pPr>
            <a:r>
              <a:rPr lang="en-US" sz="1800" b="1" dirty="0">
                <a:solidFill>
                  <a:schemeClr val="tx2"/>
                </a:solidFill>
              </a:rPr>
              <a:t>Data efficiency</a:t>
            </a:r>
            <a:endParaRPr lang="en-US" sz="1600" dirty="0"/>
          </a:p>
          <a:p>
            <a:pPr indent="0" marL="0">
              <a:spcBef>
                <a:spcPts val="400"/>
              </a:spcBef>
              <a:buNone/>
            </a:pPr>
            <a:r>
              <a:rPr lang="en-US" sz="1500" dirty="0">
                <a:solidFill>
                  <a:schemeClr val="tx1"/>
                </a:solidFill>
              </a:rPr>
              <a:t>With 10 episodes the residual model (0.42) beats the full-state model trained on 40 (0.48), at a 0.5 s horizon.</a:t>
            </a:r>
            <a:endParaRPr lang="en-US" sz="1600" dirty="0"/>
          </a:p>
        </p:txBody>
      </p:sp>
      <p:sp>
        <p:nvSpPr>
          <p:cNvPr id="7" name="limit 2"/>
          <p:cNvSpPr txBox="1"/>
          <p:nvPr/>
        </p:nvSpPr>
        <p:spPr>
          <a:xfrm>
            <a:off x="6766560" y="2834640"/>
            <a:ext cx="4846320" cy="1600200"/>
          </a:xfrm>
          <a:prstGeom prst="rect">
            <a:avLst/>
          </a:prstGeom>
          <a:noFill/>
          <a:ln/>
        </p:spPr>
        <p:txBody>
          <a:bodyPr wrap="square" lIns="0" tIns="0" rIns="0" bIns="0" rtlCol="0" anchor="t"/>
          <a:lstStyle/>
          <a:p>
            <a:pPr indent="0" marL="0">
              <a:buNone/>
            </a:pPr>
            <a:r>
              <a:rPr lang="en-US" sz="1800" b="1" dirty="0">
                <a:solidFill>
                  <a:schemeClr val="accent2"/>
                </a:solidFill>
              </a:rPr>
              <a:t>Generalization fails</a:t>
            </a:r>
            <a:endParaRPr lang="en-US" sz="1600" dirty="0"/>
          </a:p>
          <a:p>
            <a:pPr indent="0" marL="0">
              <a:spcBef>
                <a:spcPts val="400"/>
              </a:spcBef>
              <a:buNone/>
            </a:pPr>
            <a:r>
              <a:rPr lang="en-US" sz="1500" dirty="0">
                <a:solidFill>
                  <a:schemeClr val="tx1"/>
                </a:solidFill>
              </a:rPr>
              <a:t>On the unseen plant B, both learned models are worse than the physics model alone. Training on randomized plants helps on B only up to about 100 ms and hurts on A: a model that sees only the current state cannot tell which vehicle it is on.</a:t>
            </a:r>
            <a:endParaRPr lang="en-US" sz="1600" dirty="0"/>
          </a:p>
        </p:txBody>
      </p:sp>
      <p:sp>
        <p:nvSpPr>
          <p:cNvPr id="8" name="limit 3"/>
          <p:cNvSpPr txBox="1"/>
          <p:nvPr/>
        </p:nvSpPr>
        <p:spPr>
          <a:xfrm>
            <a:off x="6766560" y="4617720"/>
            <a:ext cx="4846320" cy="1143000"/>
          </a:xfrm>
          <a:prstGeom prst="rect">
            <a:avLst/>
          </a:prstGeom>
          <a:noFill/>
          <a:ln/>
        </p:spPr>
        <p:txBody>
          <a:bodyPr wrap="square" lIns="0" tIns="0" rIns="0" bIns="0" rtlCol="0" anchor="t"/>
          <a:lstStyle/>
          <a:p>
            <a:pPr indent="0" marL="0">
              <a:buNone/>
            </a:pPr>
            <a:r>
              <a:rPr lang="en-US" sz="1800" b="1" dirty="0">
                <a:solidFill>
                  <a:schemeClr val="tx2"/>
                </a:solidFill>
              </a:rPr>
              <a:t>Next</a:t>
            </a:r>
            <a:endParaRPr lang="en-US" sz="1600" dirty="0"/>
          </a:p>
          <a:p>
            <a:pPr indent="0" marL="0">
              <a:spcBef>
                <a:spcPts val="400"/>
              </a:spcBef>
              <a:buNone/>
            </a:pPr>
            <a:r>
              <a:rPr lang="en-US" sz="1500" dirty="0">
                <a:solidFill>
                  <a:schemeClr val="tx1"/>
                </a:solidFill>
              </a:rPr>
              <a:t>Update the residual online with recursive least squares (it is linear in its parameters).</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CONTROL</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Residual MPC removes a third of the bias</a:t>
            </a:r>
            <a:endParaRPr lang="en-US" sz="3000" dirty="0"/>
          </a:p>
        </p:txBody>
      </p:sp>
      <p:pic>
        <p:nvPicPr>
          <p:cNvPr id="5" name="e7_altitude.png" descr="Altitude regulation under model mismatch for three controllers">    </p:cNvPr>
          <p:cNvPicPr>
            <a:picLocks noChangeAspect="1"/>
          </p:cNvPicPr>
          <p:nvPr/>
        </p:nvPicPr>
        <p:blipFill>
          <a:blip r:embed="rId1"/>
          <a:stretch>
            <a:fillRect/>
          </a:stretch>
        </p:blipFill>
        <p:spPr>
          <a:xfrm>
            <a:off x="548640" y="1554480"/>
            <a:ext cx="7589520" cy="2739277"/>
          </a:xfrm>
          <a:prstGeom prst="rect">
            <a:avLst/>
          </a:prstGeom>
        </p:spPr>
      </p:pic>
      <p:sp>
        <p:nvSpPr>
          <p:cNvPr id="6" name="stat −32%"/>
          <p:cNvSpPr txBox="1"/>
          <p:nvPr/>
        </p:nvSpPr>
        <p:spPr>
          <a:xfrm>
            <a:off x="8503920" y="1645920"/>
            <a:ext cx="3108960" cy="1005840"/>
          </a:xfrm>
          <a:prstGeom prst="rect">
            <a:avLst/>
          </a:prstGeom>
          <a:noFill/>
          <a:ln/>
        </p:spPr>
        <p:txBody>
          <a:bodyPr wrap="square" lIns="0" tIns="0" rIns="0" bIns="0" rtlCol="0" anchor="t"/>
          <a:lstStyle/>
          <a:p>
            <a:pPr indent="0" marL="0">
              <a:buNone/>
            </a:pPr>
            <a:r>
              <a:rPr lang="en-US" sz="3600" b="1" dirty="0">
                <a:solidFill>
                  <a:schemeClr val="tx2"/>
                </a:solidFill>
              </a:rPr>
              <a:t>−32%</a:t>
            </a:r>
            <a:endParaRPr lang="en-US" sz="1600" dirty="0"/>
          </a:p>
          <a:p>
            <a:pPr indent="0" marL="0">
              <a:buNone/>
            </a:pPr>
            <a:r>
              <a:rPr lang="en-US" sz="1300" dirty="0">
                <a:solidFill>
                  <a:schemeClr val="accent6"/>
                </a:solidFill>
              </a:rPr>
              <a:t>settles 19 cm low instead of 29 cm (plant A)</a:t>
            </a:r>
            <a:endParaRPr lang="en-US" sz="1600" dirty="0"/>
          </a:p>
        </p:txBody>
      </p:sp>
      <p:sp>
        <p:nvSpPr>
          <p:cNvPr id="7" name="stat 0.7 ms"/>
          <p:cNvSpPr txBox="1"/>
          <p:nvPr/>
        </p:nvSpPr>
        <p:spPr>
          <a:xfrm>
            <a:off x="8503920" y="2926080"/>
            <a:ext cx="3108960" cy="1005840"/>
          </a:xfrm>
          <a:prstGeom prst="rect">
            <a:avLst/>
          </a:prstGeom>
          <a:noFill/>
          <a:ln/>
        </p:spPr>
        <p:txBody>
          <a:bodyPr wrap="square" lIns="0" tIns="0" rIns="0" bIns="0" rtlCol="0" anchor="t"/>
          <a:lstStyle/>
          <a:p>
            <a:pPr indent="0" marL="0">
              <a:buNone/>
            </a:pPr>
            <a:r>
              <a:rPr lang="en-US" sz="3600" b="1" dirty="0">
                <a:solidFill>
                  <a:schemeClr val="tx2"/>
                </a:solidFill>
              </a:rPr>
              <a:t>0.7 ms</a:t>
            </a:r>
            <a:endParaRPr lang="en-US" sz="1600" dirty="0"/>
          </a:p>
          <a:p>
            <a:pPr indent="0" marL="0">
              <a:buNone/>
            </a:pPr>
            <a:r>
              <a:rPr lang="en-US" sz="1300" dirty="0">
                <a:solidFill>
                  <a:schemeClr val="accent6"/>
                </a:solidFill>
              </a:rPr>
              <a:t>QP solver per 5 ms step (4.4 ms including the Python modelling layer)</a:t>
            </a:r>
            <a:endParaRPr lang="en-US" sz="1600" dirty="0"/>
          </a:p>
        </p:txBody>
      </p:sp>
      <p:sp>
        <p:nvSpPr>
          <p:cNvPr id="8" name="mpc note"/>
          <p:cNvSpPr txBox="1"/>
          <p:nvPr/>
        </p:nvSpPr>
        <p:spPr>
          <a:xfrm>
            <a:off x="548640" y="4572000"/>
            <a:ext cx="11064240" cy="1097280"/>
          </a:xfrm>
          <a:prstGeom prst="rect">
            <a:avLst/>
          </a:prstGeom>
          <a:noFill/>
          <a:ln/>
        </p:spPr>
        <p:txBody>
          <a:bodyPr wrap="square" lIns="0" tIns="0" rIns="0" bIns="0" rtlCol="0" anchor="t"/>
          <a:lstStyle/>
          <a:p>
            <a:pPr indent="0" marL="0">
              <a:buNone/>
            </a:pPr>
            <a:r>
              <a:rPr lang="en-US" sz="1600" dirty="0">
                <a:solidFill>
                  <a:schemeClr val="tx1"/>
                </a:solidFill>
              </a:rPr>
              <a:t>The residual is evaluated outside the QP and added as a known disturbance, so the problem stays convex (as in Todde et al. 2026). It helps for every mismatch effect of plant A; on held-out plant B the correction can push the wrong way (one variant: 47% larger error). </a:t>
            </a:r>
            <a:pPr indent="0" marL="0">
              <a:buNone/>
            </a:pPr>
            <a:r>
              <a:rPr lang="en-US" sz="1600" b="1" dirty="0">
                <a:solidFill>
                  <a:schemeClr val="tx1"/>
                </a:solidFill>
              </a:rPr>
              <a:t>Missing baseline: integral action (offset-free MPC), which removes a constant bias completely in theory.</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NEXT STEPS</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Plan for the remaining weeks</a:t>
            </a:r>
            <a:endParaRPr lang="en-US" sz="3000" dirty="0"/>
          </a:p>
        </p:txBody>
      </p:sp>
      <p:graphicFrame>
        <p:nvGraphicFramePr>
          <p:cNvPr id="15" name="plan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645920"/>
                <a:gridCol w="9418320"/>
              </a:tblGrid>
              <a:tr h="566928">
                <a:tc>
                  <a:txBody>
                    <a:bodyPr/>
                    <a:lstStyle/>
                    <a:p>
                      <a:pPr indent="0" marL="0">
                        <a:buNone/>
                      </a:pPr>
                      <a:r>
                        <a:rPr lang="en-US" sz="1400" b="1" dirty="0">
                          <a:solidFill>
                            <a:schemeClr val="tx1"/>
                          </a:solidFill>
                        </a:rPr>
                        <a:t>Dates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Work</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566928">
                <a:tc>
                  <a:txBody>
                    <a:bodyPr/>
                    <a:lstStyle/>
                    <a:p>
                      <a:pPr indent="0" marL="0">
                        <a:buNone/>
                      </a:pPr>
                      <a:r>
                        <a:rPr lang="en-US" sz="1400" dirty="0">
                          <a:solidFill>
                            <a:schemeClr val="tx1"/>
                          </a:solidFill>
                        </a:rPr>
                        <a:t>12–18 Oct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MPC on the full-state Koopman model (the second controller of the proposal); integral-action (offset-free) MPC baseline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66928">
                <a:tc>
                  <a:txBody>
                    <a:bodyPr/>
                    <a:lstStyle/>
                    <a:p>
                      <a:pPr indent="0" marL="0">
                        <a:buNone/>
                      </a:pPr>
                      <a:r>
                        <a:rPr lang="en-US" sz="1400" dirty="0">
                          <a:solidFill>
                            <a:schemeClr val="tx1"/>
                          </a:solidFill>
                        </a:rPr>
                        <a:t>19–25 Oct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Online adaptation of the residual by recursive least squares, to fix generalization</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66928">
                <a:tc>
                  <a:txBody>
                    <a:bodyPr/>
                    <a:lstStyle/>
                    <a:p>
                      <a:pPr indent="0" marL="0">
                        <a:buNone/>
                      </a:pPr>
                      <a:r>
                        <a:rPr lang="en-US" sz="1400" dirty="0">
                          <a:solidFill>
                            <a:schemeClr val="tx1"/>
                          </a:solidFill>
                        </a:rPr>
                        <a:t>26–31 Oct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Air-relative thrust in the truth plant; residual trained on spin-up transients; presentation 31 Oct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66928">
                <a:tc>
                  <a:txBody>
                    <a:bodyPr/>
                    <a:lstStyle/>
                    <a:p>
                      <a:pPr indent="0" marL="0">
                        <a:buNone/>
                      </a:pPr>
                      <a:r>
                        <a:rPr lang="en-US" sz="1400" dirty="0">
                          <a:solidFill>
                            <a:schemeClr val="tx1"/>
                          </a:solidFill>
                        </a:rPr>
                        <a:t>1–13 Nov</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Final simulations and the journal-style report, due 13 Nov</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6" name="risk"/>
          <p:cNvSpPr txBox="1"/>
          <p:nvPr/>
        </p:nvSpPr>
        <p:spPr>
          <a:xfrm>
            <a:off x="548640" y="4892040"/>
            <a:ext cx="11064240" cy="822960"/>
          </a:xfrm>
          <a:prstGeom prst="rect">
            <a:avLst/>
          </a:prstGeom>
          <a:noFill/>
          <a:ln/>
        </p:spPr>
        <p:txBody>
          <a:bodyPr wrap="square" lIns="0" tIns="0" rIns="0" bIns="0" rtlCol="0" anchor="t"/>
          <a:lstStyle/>
          <a:p>
            <a:pPr indent="0" marL="0">
              <a:buNone/>
            </a:pPr>
            <a:r>
              <a:rPr lang="en-US" sz="1600" b="1" dirty="0">
                <a:solidFill>
                  <a:schemeClr val="tx1"/>
                </a:solidFill>
              </a:rPr>
              <a:t>Main risk: </a:t>
            </a:r>
            <a:pPr indent="0" marL="0">
              <a:buNone/>
            </a:pPr>
            <a:r>
              <a:rPr lang="en-US" sz="1600" dirty="0">
                <a:solidFill>
                  <a:schemeClr val="tx1"/>
                </a:solidFill>
              </a:rPr>
              <a:t>online adaptation may need richer data than one flight provides. Fallback: a residual that also uses a short history of states.</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3"/>
                </a:solidFill>
              </a:rPr>
              <a:t>SUMMARY</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bg1"/>
                </a:solidFill>
              </a:rPr>
              <a:t>Where we stand</a:t>
            </a:r>
            <a:endParaRPr lang="en-US" sz="3000" dirty="0"/>
          </a:p>
        </p:txBody>
      </p:sp>
      <p:sp>
        <p:nvSpPr>
          <p:cNvPr id="4" name="num 1"/>
          <p:cNvSpPr txBox="1"/>
          <p:nvPr/>
        </p:nvSpPr>
        <p:spPr>
          <a:xfrm>
            <a:off x="548640" y="1737360"/>
            <a:ext cx="548640" cy="822960"/>
          </a:xfrm>
          <a:prstGeom prst="rect">
            <a:avLst/>
          </a:prstGeom>
          <a:noFill/>
          <a:ln/>
        </p:spPr>
        <p:txBody>
          <a:bodyPr wrap="square" lIns="0" tIns="0" rIns="0" bIns="0" rtlCol="0" anchor="t"/>
          <a:lstStyle/>
          <a:p>
            <a:pPr indent="0" marL="0">
              <a:buNone/>
            </a:pPr>
            <a:r>
              <a:rPr lang="en-US" sz="3600" b="1" dirty="0">
                <a:solidFill>
                  <a:schemeClr val="accent3"/>
                </a:solidFill>
              </a:rPr>
              <a:t>1</a:t>
            </a:r>
            <a:endParaRPr lang="en-US" sz="3600" dirty="0"/>
          </a:p>
        </p:txBody>
      </p:sp>
      <p:sp>
        <p:nvSpPr>
          <p:cNvPr id="5" name="takeaway 1"/>
          <p:cNvSpPr txBox="1"/>
          <p:nvPr/>
        </p:nvSpPr>
        <p:spPr>
          <a:xfrm>
            <a:off x="1280160" y="1783080"/>
            <a:ext cx="10332720" cy="1005840"/>
          </a:xfrm>
          <a:prstGeom prst="rect">
            <a:avLst/>
          </a:prstGeom>
          <a:noFill/>
          <a:ln/>
        </p:spPr>
        <p:txBody>
          <a:bodyPr wrap="square" lIns="0" tIns="0" rIns="0" bIns="0" rtlCol="0" anchor="t"/>
          <a:lstStyle/>
          <a:p>
            <a:pPr indent="0" marL="0">
              <a:buNone/>
            </a:pPr>
            <a:r>
              <a:rPr lang="en-US" sz="1900" dirty="0">
                <a:solidFill>
                  <a:schemeClr val="bg1"/>
                </a:solidFill>
              </a:rPr>
              <a:t>The simulator matches three published papers and the flight spin-up time within 4%.</a:t>
            </a:r>
            <a:endParaRPr lang="en-US" sz="1900" dirty="0"/>
          </a:p>
        </p:txBody>
      </p:sp>
      <p:sp>
        <p:nvSpPr>
          <p:cNvPr id="6" name="num 2"/>
          <p:cNvSpPr txBox="1"/>
          <p:nvPr/>
        </p:nvSpPr>
        <p:spPr>
          <a:xfrm>
            <a:off x="548640" y="2971800"/>
            <a:ext cx="548640" cy="822960"/>
          </a:xfrm>
          <a:prstGeom prst="rect">
            <a:avLst/>
          </a:prstGeom>
          <a:noFill/>
          <a:ln/>
        </p:spPr>
        <p:txBody>
          <a:bodyPr wrap="square" lIns="0" tIns="0" rIns="0" bIns="0" rtlCol="0" anchor="t"/>
          <a:lstStyle/>
          <a:p>
            <a:pPr indent="0" marL="0">
              <a:buNone/>
            </a:pPr>
            <a:r>
              <a:rPr lang="en-US" sz="3600" b="1" dirty="0">
                <a:solidFill>
                  <a:schemeClr val="accent3"/>
                </a:solidFill>
              </a:rPr>
              <a:t>2</a:t>
            </a:r>
            <a:endParaRPr lang="en-US" sz="3600" dirty="0"/>
          </a:p>
        </p:txBody>
      </p:sp>
      <p:sp>
        <p:nvSpPr>
          <p:cNvPr id="7" name="takeaway 2"/>
          <p:cNvSpPr txBox="1"/>
          <p:nvPr/>
        </p:nvSpPr>
        <p:spPr>
          <a:xfrm>
            <a:off x="1280160" y="3017520"/>
            <a:ext cx="10332720" cy="1005840"/>
          </a:xfrm>
          <a:prstGeom prst="rect">
            <a:avLst/>
          </a:prstGeom>
          <a:noFill/>
          <a:ln/>
        </p:spPr>
        <p:txBody>
          <a:bodyPr wrap="square" lIns="0" tIns="0" rIns="0" bIns="0" rtlCol="0" anchor="t"/>
          <a:lstStyle/>
          <a:p>
            <a:pPr indent="0" marL="0">
              <a:buNone/>
            </a:pPr>
            <a:r>
              <a:rPr lang="en-US" sz="1900" dirty="0">
                <a:solidFill>
                  <a:schemeClr val="bg1"/>
                </a:solidFill>
              </a:rPr>
              <a:t>Learning only the error of the physics model predicts best from 100 ms to 1 s; with 10 training episodes it beats a full Koopman model trained on 40.</a:t>
            </a:r>
            <a:endParaRPr lang="en-US" sz="1900" dirty="0"/>
          </a:p>
        </p:txBody>
      </p:sp>
      <p:sp>
        <p:nvSpPr>
          <p:cNvPr id="8" name="num 3"/>
          <p:cNvSpPr txBox="1"/>
          <p:nvPr/>
        </p:nvSpPr>
        <p:spPr>
          <a:xfrm>
            <a:off x="548640" y="4206240"/>
            <a:ext cx="548640" cy="822960"/>
          </a:xfrm>
          <a:prstGeom prst="rect">
            <a:avLst/>
          </a:prstGeom>
          <a:noFill/>
          <a:ln/>
        </p:spPr>
        <p:txBody>
          <a:bodyPr wrap="square" lIns="0" tIns="0" rIns="0" bIns="0" rtlCol="0" anchor="t"/>
          <a:lstStyle/>
          <a:p>
            <a:pPr indent="0" marL="0">
              <a:buNone/>
            </a:pPr>
            <a:r>
              <a:rPr lang="en-US" sz="3600" b="1" dirty="0">
                <a:solidFill>
                  <a:schemeClr val="accent5"/>
                </a:solidFill>
              </a:rPr>
              <a:t>3</a:t>
            </a:r>
            <a:endParaRPr lang="en-US" sz="3600" dirty="0"/>
          </a:p>
        </p:txBody>
      </p:sp>
      <p:sp>
        <p:nvSpPr>
          <p:cNvPr id="9" name="takeaway 3"/>
          <p:cNvSpPr txBox="1"/>
          <p:nvPr/>
        </p:nvSpPr>
        <p:spPr>
          <a:xfrm>
            <a:off x="1280160" y="4251960"/>
            <a:ext cx="10332720" cy="1005840"/>
          </a:xfrm>
          <a:prstGeom prst="rect">
            <a:avLst/>
          </a:prstGeom>
          <a:noFill/>
          <a:ln/>
        </p:spPr>
        <p:txBody>
          <a:bodyPr wrap="square" lIns="0" tIns="0" rIns="0" bIns="0" rtlCol="0" anchor="t"/>
          <a:lstStyle/>
          <a:p>
            <a:pPr indent="0" marL="0">
              <a:buNone/>
            </a:pPr>
            <a:r>
              <a:rPr lang="en-US" sz="1900" dirty="0">
                <a:solidFill>
                  <a:schemeClr val="bg1"/>
                </a:solidFill>
              </a:rPr>
              <a:t>Inside MPC it cuts the altitude bias by a third, but does not yet generalize to an unseen vehicle. Online adaptation is next.</a:t>
            </a:r>
            <a:endParaRPr lang="en-US" sz="1900" dirty="0"/>
          </a:p>
        </p:txBody>
      </p:sp>
      <p:sp>
        <p:nvSpPr>
          <p:cNvPr id="10" name="questions"/>
          <p:cNvSpPr txBox="1"/>
          <p:nvPr/>
        </p:nvSpPr>
        <p:spPr>
          <a:xfrm>
            <a:off x="548640" y="5760720"/>
            <a:ext cx="5486400" cy="457200"/>
          </a:xfrm>
          <a:prstGeom prst="rect">
            <a:avLst/>
          </a:prstGeom>
          <a:noFill/>
          <a:ln/>
        </p:spPr>
        <p:txBody>
          <a:bodyPr wrap="square" lIns="0" tIns="0" rIns="0" bIns="0" rtlCol="0" anchor="t"/>
          <a:lstStyle/>
          <a:p>
            <a:pPr indent="0" marL="0">
              <a:buNone/>
            </a:pPr>
            <a:r>
              <a:rPr lang="en-US" sz="2000" dirty="0">
                <a:solidFill>
                  <a:schemeClr val="accent3"/>
                </a:solidFill>
              </a:rPr>
              <a:t>Questions?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BACKUP</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Key references</a:t>
            </a:r>
            <a:endParaRPr lang="en-US" sz="3000" dirty="0"/>
          </a:p>
        </p:txBody>
      </p:sp>
      <p:sp>
        <p:nvSpPr>
          <p:cNvPr id="5" name="reference list"/>
          <p:cNvSpPr txBox="1"/>
          <p:nvPr/>
        </p:nvSpPr>
        <p:spPr>
          <a:xfrm>
            <a:off x="548640" y="150876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M. W. Mueller, R. D'Andrea. Stability and control of a quadrocopter despite the complete loss of one, two, or three propellers. ICRA 2014.</a:t>
            </a:r>
            <a:endParaRPr lang="en-US" sz="1400" dirty="0"/>
          </a:p>
          <a:p>
            <a:pPr marL="342900" indent="-342900">
              <a:spcAft>
                <a:spcPts val="600"/>
              </a:spcAft>
              <a:buSzPct val="100000"/>
              <a:buChar char="•"/>
            </a:pPr>
            <a:r>
              <a:rPr lang="en-US" sz="1400" dirty="0">
                <a:solidFill>
                  <a:schemeClr val="tx1"/>
                </a:solidFill>
              </a:rPr>
              <a:t>M. W. Mueller, R. D'Andrea. Relaxed hover solutions for multicopters. IJRR 35(8), 2016.</a:t>
            </a:r>
            <a:endParaRPr lang="en-US" sz="1400" dirty="0"/>
          </a:p>
          <a:p>
            <a:pPr marL="342900" indent="-342900">
              <a:spcAft>
                <a:spcPts val="600"/>
              </a:spcAft>
              <a:buSzPct val="100000"/>
              <a:buChar char="•"/>
            </a:pPr>
            <a:r>
              <a:rPr lang="en-US" sz="1400" dirty="0">
                <a:solidFill>
                  <a:schemeClr val="tx1"/>
                </a:solidFill>
              </a:rPr>
              <a:t>S. Sun, X. Wang, Q. Chu, C. de Visser. Incremental nonlinear fault-tolerant control of a quadrotor with complete loss of two opposing rotors. IEEE T-RO 37(1), 2021.</a:t>
            </a:r>
            <a:endParaRPr lang="en-US" sz="1400" dirty="0"/>
          </a:p>
          <a:p>
            <a:pPr marL="342900" indent="-342900">
              <a:spcAft>
                <a:spcPts val="600"/>
              </a:spcAft>
              <a:buSzPct val="100000"/>
              <a:buChar char="•"/>
            </a:pPr>
            <a:r>
              <a:rPr lang="en-US" sz="1400" dirty="0">
                <a:solidFill>
                  <a:schemeClr val="tx1"/>
                </a:solidFill>
              </a:rPr>
              <a:t>M. Korda, I. Mezić. Linear predictors for nonlinear dynamical systems: Koopman operator meets model predictive control. Automatica 93, 2018.</a:t>
            </a:r>
            <a:endParaRPr lang="en-US" sz="1400" dirty="0"/>
          </a:p>
          <a:p>
            <a:pPr marL="342900" indent="-342900">
              <a:spcAft>
                <a:spcPts val="600"/>
              </a:spcAft>
              <a:buSzPct val="100000"/>
              <a:buChar char="•"/>
            </a:pPr>
            <a:r>
              <a:rPr lang="en-US" sz="1400" dirty="0">
                <a:solidFill>
                  <a:schemeClr val="tx1"/>
                </a:solidFill>
              </a:rPr>
              <a:t>M. O. Williams, I. G. Kevrekidis, C. W. Rowley. A data-driven approximation of the Koopman operator: extending dynamic mode decomposition. J. Nonlinear Sci. 25, 2015.</a:t>
            </a:r>
            <a:endParaRPr lang="en-US" sz="1400" dirty="0"/>
          </a:p>
          <a:p>
            <a:pPr marL="342900" indent="-342900">
              <a:spcAft>
                <a:spcPts val="600"/>
              </a:spcAft>
              <a:buSzPct val="100000"/>
              <a:buChar char="•"/>
            </a:pPr>
            <a:r>
              <a:rPr lang="en-US" sz="1400" dirty="0">
                <a:solidFill>
                  <a:schemeClr val="tx1"/>
                </a:solidFill>
              </a:rPr>
              <a:t>E. Todde, S. Martini, A. Rizzo, K. P. Valavanis. Residual Koopman-based model predictive control of quadrotors. ICUAS 2026.</a:t>
            </a:r>
            <a:endParaRPr lang="en-US" sz="1400" dirty="0"/>
          </a:p>
          <a:p>
            <a:pPr marL="342900" indent="-342900">
              <a:spcAft>
                <a:spcPts val="600"/>
              </a:spcAft>
              <a:buSzPct val="100000"/>
              <a:buChar char="•"/>
            </a:pPr>
            <a:r>
              <a:rPr lang="en-US" sz="1400" dirty="0">
                <a:solidFill>
                  <a:schemeClr val="tx1"/>
                </a:solidFill>
              </a:rPr>
              <a:t>D. Bruder, D. Bombara, R. J. Wood. A Koopman-based residual modeling approach for the control of a soft robot arm. IJRR 44(3), 2025.</a:t>
            </a:r>
            <a:endParaRPr lang="en-US" sz="1400" dirty="0"/>
          </a:p>
          <a:p>
            <a:pPr marL="342900" indent="-342900">
              <a:spcAft>
                <a:spcPts val="600"/>
              </a:spcAft>
              <a:buSzPct val="100000"/>
              <a:buChar char="•"/>
            </a:pPr>
            <a:r>
              <a:rPr lang="en-US" sz="1400" dirty="0">
                <a:solidFill>
                  <a:schemeClr val="tx1"/>
                </a:solidFill>
              </a:rPr>
              <a:t>S. S. K. S. Narayanan, U. Vaidya. RK-MPC: residual Koopman MPC for quadruped locomotion in offroad environments. arXiv:2604.04221, 2026.</a:t>
            </a:r>
            <a:endParaRPr lang="en-US" sz="1400" dirty="0"/>
          </a:p>
          <a:p>
            <a:pPr marL="342900" indent="-342900">
              <a:spcAft>
                <a:spcPts val="600"/>
              </a:spcAft>
              <a:buSzPct val="100000"/>
              <a:buChar char="•"/>
            </a:pPr>
            <a:r>
              <a:rPr lang="en-US" sz="1400" dirty="0">
                <a:solidFill>
                  <a:schemeClr val="tx1"/>
                </a:solidFill>
              </a:rPr>
              <a:t>B. Stellato et al. OSQP: an operator splitting solver for quadratic programs. Math. Prog. Comp. 12, 2020.</a:t>
            </a:r>
            <a:endParaRPr lang="en-US" sz="1400" dirty="0"/>
          </a:p>
        </p:txBody>
      </p:sp>
      <p:sp>
        <p:nvSpPr>
          <p:cNvPr id="6" name="bib not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chemeClr val="accent6"/>
                </a:solidFill>
              </a:rPr>
              <a:t>Full bibliography: the project report.</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Rotor Loss Recovery">
      <a:dk1>
        <a:srgbClr val="1E2433"/>
      </a:dk1>
      <a:lt1>
        <a:srgbClr val="FFFFFF"/>
      </a:lt1>
      <a:dk2>
        <a:srgbClr val="16233F"/>
      </a:dk2>
      <a:lt2>
        <a:srgbClr val="F2F4F8"/>
      </a:lt2>
      <a:accent1>
        <a:srgbClr val="2A62C4"/>
      </a:accent1>
      <a:accent2>
        <a:srgbClr val="B9531C"/>
      </a:accent2>
      <a:accent3>
        <a:srgbClr val="A9C4F0"/>
      </a:accent3>
      <a:accent4>
        <a:srgbClr val="E8EFFB"/>
      </a:accent4>
      <a:accent5>
        <a:srgbClr val="FBEDE5"/>
      </a:accent5>
      <a:accent6>
        <a:srgbClr val="5B6472"/>
      </a:accent6>
      <a:hlink>
        <a:srgbClr val="2A62C4"/>
      </a:hlink>
      <a:folHlink>
        <a:srgbClr val="6A4FB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Rotor Loss Recovery: Progress Review</dc:title>
  <dc:subject>PptxGenJS Presentation</dc:subject>
  <dc:creator>PptxGenJS</dc:creator>
  <cp:lastModifiedBy>PptxGenJS</cp:lastModifiedBy>
  <cp:revision>1</cp:revision>
  <dcterms:created xsi:type="dcterms:W3CDTF">2026-10-15T16:54:49Z</dcterms:created>
  <dcterms:modified xsi:type="dcterms:W3CDTF">2026-10-15T16:54:49Z</dcterms:modified>
</cp:coreProperties>
</file>