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aim" id="{3ce04859-647f-9005-598f-4f4e6dbe5894}">
          <p14:sldIdLst>
            <p14:sldId id="256"/>
            <p14:sldId id="257"/>
            <p14:sldId id="258"/>
          </p14:sldIdLst>
        </p14:section>
        <p14:section name="Foundation" id="{3791e2b0-7814-cf97-d9b8-fddb599e632e}">
          <p14:sldIdLst>
            <p14:sldId id="259"/>
            <p14:sldId id="260"/>
            <p14:sldId id="261"/>
            <p14:sldId id="262"/>
            <p14:sldId id="263"/>
          </p14:sldIdLst>
        </p14:section>
        <p14:section name="Learning the mismatch" id="{bcdd1a30-e6c2-11c0-9543-a83357910c5a}">
          <p14:sldIdLst>
            <p14:sldId id="264"/>
            <p14:sldId id="265"/>
            <p14:sldId id="266"/>
            <p14:sldId id="267"/>
            <p14:sldId id="268"/>
          </p14:sldIdLst>
        </p14:section>
        <p14:section name="Detection delay" id="{b36639fd-77fe-7b0a-89d9-fd1fc7b696e2}">
          <p14:sldIdLst>
            <p14:sldId id="269"/>
            <p14:sldId id="270"/>
            <p14:sldId id="271"/>
            <p14:sldId id="272"/>
          </p14:sldIdLst>
        </p14:section>
        <p14:section name="Plan and summary" id="{c381db68-5750-a315-30b9-33659c409c08}">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our progress review after the proposal. I will cover four things: the problem and our aim, the simulator and how we validated it against published results, first results on the residual Koopman approach we proposed, and first results on how long fault detection can take before recovery is no longer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has one aim with two parts. The first part is the approach from the proposal we presented: build the known physics of the spinning, failed vehicle into the model, and let a Koopman model learn only what the physics gets wrong, then use it inside MPC. The second part concerns timing. While reviewing the literature we found that recovery methods with guarantees assume the failure is detected instantly, but real detectors take tens to hundreds of milliseconds. We therefore also ask for a guaranteed bound on that delay, using Lyapunov and LMI tools from this course. The two parts connect: whichever controller catches the vehicle after detection, we can compare them by the delay they tolerate. Nothing from the proposal was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one rotor dies, a quadrotor cannot hover level any more. Mueller and D'Andrea showed it can still fly by spinning steadily about a tilted axis, called the relaxed hover. But there is a gap in time: the fault detector needs some time tau to notice the failure. During that time the normal controller keeps flying a vehicle that has lost a rotor. Only after detection does the failure controller take over and try to capture the vehicle into the spinning state. Most guarantee-based papers assume tau equals zero. Başak and Prempain proved stability for a linear model with a fixed delay, but without thrust limits and without finding the largest tolerable delay. Fast detectors take 30 to 130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wrote our own simulator in Python. It is a full six degree of freedom rigid body with the rotor gyroscopic terms from the paper, actuator limits, and motor lag. The key state for the failed vehicle is the reduced attitude n: the vertical direction expressed in body axes. Because the vehicle spins, we control this direction rather than the full attitude. Every vehicle parameter comes from the Mueller and D'Andrea paper, so we can compare against their numbers directly. For the learning experiments we also build "truth" plants with effects the nominal model does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trusting any result we checked the simulator against published numbers. The two-rotor and three-rotor-loss equilibria from Mueller and D'Andrea's ICRA paper match every digit they published. The three-rotor case is a strong check because it uses all the gyroscopic terms. For the one-rotor case, thrust, spin rate and tilt match within half a percent, but the pitch rate is six percent lower; we found that the paper's own published values leave a residual in its own equation 12, so that one published case is slightly inconsistent. We also wrote an independent implementation of their more detailed IJRR model and reproduced all five failure cases within 4 percent, and matched a second drone, the Bebop 2, from Sun et al. Finally, against flight data: with the thrust the flight actually used, read from their Figure 4, our model spins up to 10 radians per second in 0.65 seconds, against 0.62 in flight. The spin-up time depends strongly on that thrust, so the delay results later are shown for two thrust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equilibrium the failed vehicle must reach. With rotor 4 gone, the two side rotors produce equal thrust and the opposite rotor about half of it. The vehicle then spins at about 19.6 radians per second about an axis tilted 16 degrees from the body z axis, and the centre of mass moves on a circle of only about 7 millimetres. The figure shows how the equilibrium changes with the thrust ratio; it reproduces the paper's Figure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Linearizing about the spinning equilibrium in body coordinates gives a linear time-invariant model. The open loop has two undamped oscillations, at 10 and 19.6 radians per second, the slow yaw mode, and the altitude double integrator. It is fully controllable from the three rotors, which reproduces the paper's result. On observability: gyros alone cannot see tilt or altitude. A small finding of ours: because the spinning equilibrium is tilted, vertical acceleration depends on tilt to first order, so gyro plus barometer is enough in principle. But with realistic sensor noise the observability Gramian shows it is about 2,700 times weaker than measuring tilt directly, so it is a structural property, not a practical estimator.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designed two LQR controllers: a normal hover controller, and a failure-mode controller at the spinning equilibrium using the paper's weights, with motor states and altitude added. On the full nonlinear model with motor lag and thrust limits, the failure controller recovers from a perturbed start: the altitude settles in 1.8 seconds, the tilt in 2.1 and the yaw rate in 2.5. One number to note: the failure controller tolerates only about 18 milliseconds of pure input delay, compared with 40 for the healthy one. The least-damped mode is the oscillation at the spin frequency, with a damping ratio of about 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first part: learning only the mismatch of the physics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 three predictors on the same data, exactly as proposed. The analytical model is the Mueller and D'Andrea linearization with no learning. Full-state EDMDc learns everything from data with a quadratic dictionary of 55 lifted states. The residual model keeps the physics and learns only the one-step error, clipped to a bound, as in Todde et al. 2026. To avoid learning our own code back, the data come from a "truth" plant with effects the physics model does not have. We test on held-out episodes from the same plant and from a different 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main prediction result. On held-out episodes from the training plant, the residual model has the lowest error at every horizon from 100 milliseconds upward; at shorter horizons the full-state model is slightly better. At one second the residual error is 0.64, against 0.91 for full-state EDMDc and 7.1 for the analytical model, which is worse than simply assuming nothing changes, because the unmodelled thrust loss makes it drift. Our proposal claimed that full-state EDMDc is unstable; on the failed vehicle we confirm that it has eigenvalues outside the unit circle and that it falls behind the no-change baseline by two seconds. At two seconds even the residual model is behind no-change: long open-loop horizons need feedback, which is why the MPC re-plans every 5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results, one good and one bad. Good: the residual model needs less data. With only 10 short episodes it already beats the full-state model trained on 40. That matters because real failure data are scarce: failed flights tend to end in crashes. Bad: neither learned model generalizes to a plant with different parameters. On the held-out plant both are worse than the physics model alone. Training on randomized plants helps the residual model on the new plant only up to about 100 milliseconds, and makes both models worse on the training plant, because a static model cannot tell from a single state which vehicle it is on. This motivates our next step: adapt the residual online. Since the residual is linear in its parameters, recursive least squares is a natural, cheap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in closed loop. We built a linear MPC on the analytical model, and the same MPC with the residual added as a measured disturbance, evaluated outside the optimization so the QP stays convex. On the training plant, the mismatch causes a steady altitude error of about 29 centimetres for LQR and analytical MPC. The residual-Koopman MPC cuts it to 19 centimetres, a 32 percent reduction, and it helps for each separate mismatch effect of that plant. On the held-out plant it helps overall, but when we remove that plant's thrust loss it makes the error 47 percent larger, which is the generalization problem again. The solver needs under a millisecond per step; our modelling layer adds overhead, so a real-time version would call the solver directly. When we used the MPCs to catch the vehicle after a detection delay, they did not beat LQR: LQR was safe up to 10 milliseconds, the MPCs only without delay. The likely reason is that the linear model is not valid far from the spin. The obvious next baseline is integral action, which we will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part: how long can fault detection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the delay matter so much? When rotor 4 dies, rotor 2 on the opposite side is no longer balanced, which creates a roll torque. The healthy controller reacts by cutting rotor 2, but a running motor cannot go below its idle thrust. So a roll acceleration of at least 10.6 radians per second squared remains, whatever the tuning. The plot shows three tunings, all above this lower bound. After 100 milliseconds the vehicle is already tilted about 13 degrees, and after 200 about 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key result so far on timing. We simulate the Mueller and D'Andrea strategy: spin up on two rotors, then switch to the LQR. For each delay we run 40 random pre-failure states and count the safe recoveries; the bands are 95 percent confidence intervals. With the thrust used in flight and instant detection, the vehicle climbs 40 centimetres and loses only 3 centimetres below its start, like their flight. With delay, things fall apart quickly: the probability of a safe recovery drops below 0.9 at about 12 milliseconds and below one half at about 19. With the lower, hover-neutral thrust these numbers are 7 and 14 milliseconds. Real detectors take 30 to 130 milliseconds. If we only ask for the attitude to be recovered, ignoring the altitude loss, the 50 percent point is at 52 milliseconds. These numbers hold for this strategy and model; nonlinear controllers in the literature have recovered with 100 milliseconds or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turn the delay question into a guarantee, we need a certified set of states from which the failure controller always recovers despite thrust limits. Our first version uses the Hu and Lin saturation conditions as LMIs on the linear model at the spinning equilibrium. It certifies about 22 percent of the way from the equilibrium to the state right after a failure in hover; simulation shows recovery up to 70 percent, so it is about three times conservative. The slice shows why: the controller only fails at spin rates of about 5 radians per second or less, but a certificate built at the full spin cannot reach there. That is exactly the gap our next step addresses, by treating the yaw rate as a varying parameter and certifying over the whole spin-up. These are certificates for the linear model; the nonlinear gap is measured by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for the remaining weeks, up to the final presentation on 31 October and the final report on 13 November. On the learning side we still owe the second controller from the proposal, MPC on the full-state Koopman model, plus the classical integral-action baseline, then online adaptation to fix the generalization problem. On the timing side the next step is the certificate over the whole spin-up, then the reachable set of the undetected phase, which together give the certified delay budget. The main risk is that the spin-up certificate is infeasible or too conservative; we have two fallbacks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Our simulator is validated against three papers and against the flight spin-up time. The residual Koopman model is the best predictor from 100 milliseconds on, needs less data, and improves MPC, but it does not yet generalize, and we have a concrete plan for that. On timing, the published recovery strategy is safe with high probability only for detection delays up to about 12 milliseconds in simulation, well below what real detectors need, which is the gap our certified delay budget will address.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rtlCol="0"/>
          <a:lstStyle>
            <a:lvl1pPr indent="0" marL="0">
              <a:buNone/>
              <a:defRPr lang="en-US" sz="1200" b="1" spc="1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EE650 · Progress review</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10515600" cy="365760"/>
          </a:xfrm>
          <a:prstGeom prst="rect">
            <a:avLst/>
          </a:prstGeom>
          <a:noFill/>
          <a:ln/>
        </p:spPr>
        <p:txBody>
          <a:bodyPr wrap="square" rtlCol="0"/>
          <a:lstStyle>
            <a:lvl1pPr indent="0" marL="0">
              <a:buNone/>
              <a:defRPr lang="en-US" sz="1400" b="1" spc="100" kern="0" dirty="0">
                <a:solidFill>
                  <a:schemeClr val="accent3"/>
                </a:solidFill>
              </a:defRPr>
            </a:lvl1pPr>
          </a:lstStyle>
          <a:p>
            <a:pPr indent="0" marL="0">
              <a:buNone/>
            </a:pPr>
            <a:endParaRPr lang="en-US" sz="1400" dirty="0"/>
          </a:p>
        </p:txBody>
      </p:sp>
      <p:sp>
        <p:nvSpPr>
          <p:cNvPr id="3" name="Text 0"/>
          <p:cNvSpPr/>
          <p:nvPr>
            <p:ph idx="101" type="title" hasCustomPrompt="1"/>
          </p:nvPr>
        </p:nvSpPr>
        <p:spPr>
          <a:xfrm>
            <a:off x="731520" y="2240280"/>
            <a:ext cx="1069848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4069080"/>
            <a:ext cx="10515600" cy="914400"/>
          </a:xfrm>
          <a:prstGeom prst="rect">
            <a:avLst/>
          </a:prstGeom>
          <a:noFill/>
          <a:ln/>
        </p:spPr>
        <p:txBody>
          <a:bodyPr wrap="square" rtlCol="0"/>
          <a:lstStyle>
            <a:lvl1pPr indent="0" marL="0">
              <a:buNone/>
              <a:defRPr lang="en-US" sz="2000" dirty="0">
                <a:solidFill>
                  <a:schemeClr val="accent3"/>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rtlCol="0"/>
          <a:lstStyle>
            <a:lvl1pPr indent="0" marL="0">
              <a:buNone/>
              <a:defRPr lang="en-US" sz="1200" b="1" spc="1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10515600" cy="365760"/>
          </a:xfrm>
          <a:prstGeom prst="rect">
            <a:avLst/>
          </a:prstGeom>
          <a:noFill/>
          <a:ln/>
        </p:spPr>
        <p:txBody>
          <a:bodyPr wrap="square" lIns="0" tIns="0" rIns="0" bIns="0" rtlCol="0"/>
          <a:lstStyle/>
          <a:p>
            <a:pPr indent="0" marL="0">
              <a:buNone/>
            </a:pPr>
            <a:r>
              <a:rPr lang="en-US" sz="1400" b="1" spc="100" kern="0" dirty="0">
                <a:solidFill>
                  <a:schemeClr val="accent3"/>
                </a:solidFill>
              </a:rPr>
              <a:t>EE650 · BASICS OF MODERN CONTROL SYSTEMS · PROGRESS REVIEW</a:t>
            </a:r>
            <a:endParaRPr lang="en-US" sz="1400" dirty="0"/>
          </a:p>
        </p:txBody>
      </p:sp>
      <p:sp>
        <p:nvSpPr>
          <p:cNvPr id="3" name="Text 0"/>
          <p:cNvSpPr/>
          <p:nvPr>
            <p:ph idx="101" type="title" hasCustomPrompt="1"/>
          </p:nvPr>
        </p:nvSpPr>
        <p:spPr>
          <a:xfrm>
            <a:off x="731520" y="22402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rPr>
              <a:t>Fault-tolerant control of a quadrotor after complete rotor loss</a:t>
            </a:r>
            <a:endParaRPr lang="en-US" sz="4000" dirty="0"/>
          </a:p>
        </p:txBody>
      </p:sp>
      <p:sp>
        <p:nvSpPr>
          <p:cNvPr id="4" name="Text 0"/>
          <p:cNvSpPr/>
          <p:nvPr>
            <p:ph idx="102" type="body" hasCustomPrompt="1"/>
          </p:nvPr>
        </p:nvSpPr>
        <p:spPr>
          <a:xfrm>
            <a:off x="731520" y="4069080"/>
            <a:ext cx="10515600" cy="914400"/>
          </a:xfrm>
          <a:prstGeom prst="rect">
            <a:avLst/>
          </a:prstGeom>
          <a:noFill/>
          <a:ln/>
        </p:spPr>
        <p:txBody>
          <a:bodyPr wrap="square" lIns="0" tIns="0" rIns="0" bIns="0" rtlCol="0" anchor="t"/>
          <a:lstStyle/>
          <a:p>
            <a:pPr indent="0" marL="0">
              <a:buNone/>
            </a:pPr>
            <a:r>
              <a:rPr lang="en-US" sz="2000" dirty="0">
                <a:solidFill>
                  <a:schemeClr val="accent3"/>
                </a:solidFill>
              </a:rPr>
              <a:t>Residual Koopman MPC, and certified limits on fault-detection delay</a:t>
            </a:r>
            <a:endParaRPr lang="en-US" sz="2000" dirty="0"/>
          </a:p>
        </p:txBody>
      </p:sp>
      <p:sp>
        <p:nvSpPr>
          <p:cNvPr id="5" name="team"/>
          <p:cNvSpPr txBox="1"/>
          <p:nvPr/>
        </p:nvSpPr>
        <p:spPr>
          <a:xfrm>
            <a:off x="731520" y="5852160"/>
            <a:ext cx="7680960" cy="365760"/>
          </a:xfrm>
          <a:prstGeom prst="rect">
            <a:avLst/>
          </a:prstGeom>
          <a:noFill/>
          <a:ln/>
        </p:spPr>
        <p:txBody>
          <a:bodyPr wrap="square" lIns="0" tIns="0" rIns="0" bIns="0" rtlCol="0" anchor="t"/>
          <a:lstStyle/>
          <a:p>
            <a:pPr indent="0" marL="0">
              <a:buNone/>
            </a:pPr>
            <a:r>
              <a:rPr lang="en-US" sz="1600" dirty="0">
                <a:solidFill>
                  <a:schemeClr val="accent3"/>
                </a:solidFill>
              </a:rPr>
              <a:t>Pranshu Kumar · Mudita Jain · Prashant Gupta · Aarush Singh Kushwaha</a:t>
            </a:r>
            <a:endParaRPr lang="en-US" sz="1600" dirty="0"/>
          </a:p>
        </p:txBody>
      </p:sp>
      <p:sp>
        <p:nvSpPr>
          <p:cNvPr id="6" name="date"/>
          <p:cNvSpPr txBox="1"/>
          <p:nvPr/>
        </p:nvSpPr>
        <p:spPr>
          <a:xfrm>
            <a:off x="8686800" y="5852160"/>
            <a:ext cx="2743200" cy="365760"/>
          </a:xfrm>
          <a:prstGeom prst="rect">
            <a:avLst/>
          </a:prstGeom>
          <a:noFill/>
          <a:ln/>
        </p:spPr>
        <p:txBody>
          <a:bodyPr wrap="square" lIns="0" tIns="0" rIns="0" bIns="0" rtlCol="0" anchor="t"/>
          <a:lstStyle/>
          <a:p>
            <a:pPr algn="r" indent="0" marL="0">
              <a:buNone/>
            </a:pPr>
            <a:r>
              <a:rPr lang="en-US" sz="1600" dirty="0">
                <a:solidFill>
                  <a:schemeClr val="accent3"/>
                </a:solidFill>
              </a:rPr>
              <a:t>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1"/>
                </a:solidFill>
              </a:rPr>
              <a:t>AIM</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One aim, two connected parts</a:t>
            </a:r>
            <a:endParaRPr lang="en-US" sz="3000" dirty="0"/>
          </a:p>
        </p:txBody>
      </p:sp>
      <p:sp>
        <p:nvSpPr>
          <p:cNvPr id="5" name="model card"/>
          <p:cNvSpPr txBox="1"/>
          <p:nvPr/>
        </p:nvSpPr>
        <p:spPr>
          <a:xfrm>
            <a:off x="548640" y="1554480"/>
            <a:ext cx="5394960" cy="2468880"/>
          </a:xfrm>
          <a:prstGeom prst="roundRect">
            <a:avLst>
              <a:gd name="adj" fmla="val 2963"/>
            </a:avLst>
          </a:prstGeom>
          <a:solidFill>
            <a:schemeClr val="accent4"/>
          </a:solidFill>
          <a:ln>
            <a:solidFill>
              <a:schemeClr val="accent4"/>
            </a:solidFill>
          </a:ln>
        </p:spPr>
        <p:txBody>
          <a:bodyPr wrap="square" lIns="152400" tIns="152400" rIns="152400" bIns="152400" rtlCol="0" anchor="t"/>
          <a:lstStyle/>
          <a:p>
            <a:pPr indent="0" marL="0">
              <a:buNone/>
            </a:pPr>
            <a:r>
              <a:rPr lang="en-US" sz="1300" b="1" dirty="0">
                <a:solidFill>
                  <a:schemeClr val="accent1"/>
                </a:solidFill>
              </a:rPr>
              <a:t>MODEL AND CONTROL · AS PROPOSED</a:t>
            </a:r>
            <a:endParaRPr lang="en-US" sz="1600" dirty="0"/>
          </a:p>
          <a:p>
            <a:pPr indent="0" marL="0">
              <a:spcBef>
                <a:spcPts val="600"/>
              </a:spcBef>
              <a:buNone/>
            </a:pPr>
            <a:r>
              <a:rPr lang="en-US" sz="2200" b="1" dirty="0">
                <a:solidFill>
                  <a:schemeClr val="tx2"/>
                </a:solidFill>
              </a:rPr>
              <a:t>Residual Koopman MPC</a:t>
            </a:r>
            <a:endParaRPr lang="en-US" sz="1600" dirty="0"/>
          </a:p>
          <a:p>
            <a:pPr indent="0" marL="0">
              <a:spcBef>
                <a:spcPts val="800"/>
              </a:spcBef>
              <a:buNone/>
            </a:pPr>
            <a:r>
              <a:rPr lang="en-US" sz="1600" dirty="0">
                <a:solidFill>
                  <a:schemeClr val="tx1"/>
                </a:solidFill>
              </a:rPr>
              <a:t>Can a Koopman (EDMDc) model of only the mismatch, built on the known spinning-equilibrium model of Mueller &amp; D'Andrea, predict and control better than the physics model alone or a full-state Koopman model?</a:t>
            </a:r>
            <a:endParaRPr lang="en-US" sz="1600" dirty="0"/>
          </a:p>
        </p:txBody>
      </p:sp>
      <p:sp>
        <p:nvSpPr>
          <p:cNvPr id="6" name="timing card"/>
          <p:cNvSpPr txBox="1"/>
          <p:nvPr/>
        </p:nvSpPr>
        <p:spPr>
          <a:xfrm>
            <a:off x="6217920" y="1554480"/>
            <a:ext cx="5394960" cy="2468880"/>
          </a:xfrm>
          <a:prstGeom prst="roundRect">
            <a:avLst>
              <a:gd name="adj" fmla="val 2963"/>
            </a:avLst>
          </a:prstGeom>
          <a:solidFill>
            <a:schemeClr val="accent5"/>
          </a:solidFill>
          <a:ln>
            <a:solidFill>
              <a:schemeClr val="accent5"/>
            </a:solidFill>
          </a:ln>
        </p:spPr>
        <p:txBody>
          <a:bodyPr wrap="square" lIns="152400" tIns="152400" rIns="152400" bIns="152400" rtlCol="0" anchor="t"/>
          <a:lstStyle/>
          <a:p>
            <a:pPr indent="0" marL="0">
              <a:buNone/>
            </a:pPr>
            <a:r>
              <a:rPr lang="en-US" sz="1300" b="1" dirty="0">
                <a:solidFill>
                  <a:schemeClr val="accent2"/>
                </a:solidFill>
              </a:rPr>
              <a:t>TIMING · ADDED AFTER THE PROPOSAL</a:t>
            </a:r>
            <a:endParaRPr lang="en-US" sz="1600" dirty="0"/>
          </a:p>
          <a:p>
            <a:pPr indent="0" marL="0">
              <a:spcBef>
                <a:spcPts val="600"/>
              </a:spcBef>
              <a:buNone/>
            </a:pPr>
            <a:r>
              <a:rPr lang="en-US" sz="2200" b="1" dirty="0">
                <a:solidFill>
                  <a:schemeClr val="tx2"/>
                </a:solidFill>
              </a:rPr>
              <a:t>Certified detection-delay budget</a:t>
            </a:r>
            <a:endParaRPr lang="en-US" sz="1600" dirty="0"/>
          </a:p>
          <a:p>
            <a:pPr indent="0" marL="0">
              <a:spcBef>
                <a:spcPts val="800"/>
              </a:spcBef>
              <a:buNone/>
            </a:pPr>
            <a:r>
              <a:rPr lang="en-US" sz="1600" dirty="0">
                <a:solidFill>
                  <a:schemeClr val="tx1"/>
                </a:solidFill>
              </a:rPr>
              <a:t>A fault detector needs 30–130 ms to notice a dead rotor. What is the largest delay for which recovery is guaranteed, and how does the capture controller change it?</a:t>
            </a:r>
            <a:endParaRPr lang="en-US" sz="1600" dirty="0"/>
          </a:p>
        </p:txBody>
      </p:sp>
      <p:sp>
        <p:nvSpPr>
          <p:cNvPr id="7" name="link"/>
          <p:cNvSpPr txBox="1"/>
          <p:nvPr/>
        </p:nvSpPr>
        <p:spPr>
          <a:xfrm>
            <a:off x="548640" y="4389120"/>
            <a:ext cx="11064240" cy="731520"/>
          </a:xfrm>
          <a:prstGeom prst="rect">
            <a:avLst/>
          </a:prstGeom>
          <a:noFill/>
          <a:ln/>
        </p:spPr>
        <p:txBody>
          <a:bodyPr wrap="square" lIns="0" tIns="0" rIns="0" bIns="0" rtlCol="0" anchor="t"/>
          <a:lstStyle/>
          <a:p>
            <a:pPr indent="0" marL="0">
              <a:buNone/>
            </a:pPr>
            <a:r>
              <a:rPr lang="en-US" sz="1800" b="1" dirty="0">
                <a:solidFill>
                  <a:schemeClr val="tx1"/>
                </a:solidFill>
              </a:rPr>
              <a:t>The link: </a:t>
            </a:r>
            <a:pPr indent="0" marL="0">
              <a:buNone/>
            </a:pPr>
            <a:r>
              <a:rPr lang="en-US" sz="1800" dirty="0">
                <a:solidFill>
                  <a:schemeClr val="tx1"/>
                </a:solidFill>
              </a:rPr>
              <a:t>each capture controller (LQR, analytical MPC, residual Koopman MPC) is compared by the detection delay it can tolerate.</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1"/>
                </a:solidFill>
              </a:rPr>
              <a:t>THE PROBLEM</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What happens when a rotor fails</a:t>
            </a:r>
            <a:endParaRPr lang="en-US" sz="3000" dirty="0"/>
          </a:p>
        </p:txBody>
      </p:sp>
      <p:sp>
        <p:nvSpPr>
          <p:cNvPr id="5" name="step 1"/>
          <p:cNvSpPr txBox="1"/>
          <p:nvPr/>
        </p:nvSpPr>
        <p:spPr>
          <a:xfrm>
            <a:off x="548640" y="1783080"/>
            <a:ext cx="1920240" cy="1554480"/>
          </a:xfrm>
          <a:prstGeom prst="roundRect">
            <a:avLst>
              <a:gd name="adj" fmla="val 4706"/>
            </a:avLst>
          </a:prstGeom>
          <a:solidFill>
            <a:schemeClr val="bg2"/>
          </a:solidFill>
          <a:ln w="9525">
            <a:solidFill>
              <a:schemeClr val="bg2"/>
            </a:solidFill>
          </a:ln>
        </p:spPr>
        <p:txBody>
          <a:bodyPr wrap="square" lIns="152400" tIns="152400" rIns="152400" bIns="152400" rtlCol="0" anchor="t"/>
          <a:lstStyle/>
          <a:p>
            <a:pPr indent="0" marL="0">
              <a:buNone/>
            </a:pPr>
            <a:r>
              <a:rPr lang="en-US" sz="1800" b="1" dirty="0">
                <a:solidFill>
                  <a:schemeClr val="tx2"/>
                </a:solidFill>
              </a:rPr>
              <a:t>Healthy flight</a:t>
            </a:r>
            <a:endParaRPr lang="en-US" sz="1600" dirty="0"/>
          </a:p>
          <a:p>
            <a:pPr indent="0" marL="0">
              <a:spcBef>
                <a:spcPts val="600"/>
              </a:spcBef>
              <a:buNone/>
            </a:pPr>
            <a:r>
              <a:rPr lang="en-US" sz="1400" dirty="0">
                <a:solidFill>
                  <a:schemeClr val="accent6"/>
                </a:solidFill>
              </a:rPr>
              <a:t>Normal controller, four rotors</a:t>
            </a:r>
            <a:endParaRPr lang="en-US" sz="1600" dirty="0"/>
          </a:p>
        </p:txBody>
      </p:sp>
      <p:sp>
        <p:nvSpPr>
          <p:cNvPr id="6" name="arrow 1"/>
          <p:cNvSpPr/>
          <p:nvPr/>
        </p:nvSpPr>
        <p:spPr>
          <a:xfrm>
            <a:off x="2523744" y="2423160"/>
            <a:ext cx="256032" cy="274320"/>
          </a:xfrm>
          <a:prstGeom prst="rightArrow">
            <a:avLst/>
          </a:prstGeom>
          <a:solidFill>
            <a:schemeClr val="accent6"/>
          </a:solidFill>
          <a:ln w="12700">
            <a:solidFill>
              <a:schemeClr val="accent6"/>
            </a:solidFill>
            <a:prstDash val="solid"/>
          </a:ln>
        </p:spPr>
      </p:sp>
      <p:sp>
        <p:nvSpPr>
          <p:cNvPr id="7" name="step 2"/>
          <p:cNvSpPr txBox="1"/>
          <p:nvPr/>
        </p:nvSpPr>
        <p:spPr>
          <a:xfrm>
            <a:off x="2834640" y="1783080"/>
            <a:ext cx="1920240" cy="1554480"/>
          </a:xfrm>
          <a:prstGeom prst="roundRect">
            <a:avLst>
              <a:gd name="adj" fmla="val 4706"/>
            </a:avLst>
          </a:prstGeom>
          <a:solidFill>
            <a:schemeClr val="bg2"/>
          </a:solidFill>
          <a:ln w="9525">
            <a:solidFill>
              <a:schemeClr val="bg2"/>
            </a:solidFill>
          </a:ln>
        </p:spPr>
        <p:txBody>
          <a:bodyPr wrap="square" lIns="152400" tIns="152400" rIns="152400" bIns="152400" rtlCol="0" anchor="t"/>
          <a:lstStyle/>
          <a:p>
            <a:pPr indent="0" marL="0">
              <a:buNone/>
            </a:pPr>
            <a:r>
              <a:rPr lang="en-US" sz="1800" b="1" dirty="0">
                <a:solidFill>
                  <a:schemeClr val="tx2"/>
                </a:solidFill>
              </a:rPr>
              <a:t>Rotor fails</a:t>
            </a:r>
            <a:endParaRPr lang="en-US" sz="1600" dirty="0"/>
          </a:p>
          <a:p>
            <a:pPr indent="0" marL="0">
              <a:spcBef>
                <a:spcPts val="600"/>
              </a:spcBef>
              <a:buNone/>
            </a:pPr>
            <a:r>
              <a:rPr lang="en-US" sz="1400" dirty="0">
                <a:solidFill>
                  <a:schemeClr val="accent6"/>
                </a:solidFill>
              </a:rPr>
              <a:t>t = 0, thrust of rotor 4 lost</a:t>
            </a:r>
            <a:endParaRPr lang="en-US" sz="1600" dirty="0"/>
          </a:p>
        </p:txBody>
      </p:sp>
      <p:sp>
        <p:nvSpPr>
          <p:cNvPr id="8" name="arrow 2"/>
          <p:cNvSpPr/>
          <p:nvPr/>
        </p:nvSpPr>
        <p:spPr>
          <a:xfrm>
            <a:off x="4809744" y="2423160"/>
            <a:ext cx="256032" cy="274320"/>
          </a:xfrm>
          <a:prstGeom prst="rightArrow">
            <a:avLst/>
          </a:prstGeom>
          <a:solidFill>
            <a:schemeClr val="accent6"/>
          </a:solidFill>
          <a:ln w="12700">
            <a:solidFill>
              <a:schemeClr val="accent6"/>
            </a:solidFill>
            <a:prstDash val="solid"/>
          </a:ln>
        </p:spPr>
      </p:sp>
      <p:sp>
        <p:nvSpPr>
          <p:cNvPr id="9" name="step 3"/>
          <p:cNvSpPr txBox="1"/>
          <p:nvPr/>
        </p:nvSpPr>
        <p:spPr>
          <a:xfrm>
            <a:off x="5120640" y="1783080"/>
            <a:ext cx="1920240" cy="1554480"/>
          </a:xfrm>
          <a:prstGeom prst="roundRect">
            <a:avLst>
              <a:gd name="adj" fmla="val 4706"/>
            </a:avLst>
          </a:prstGeom>
          <a:solidFill>
            <a:schemeClr val="accent5"/>
          </a:solidFill>
          <a:ln w="19050">
            <a:solidFill>
              <a:schemeClr val="accent2"/>
            </a:solidFill>
          </a:ln>
        </p:spPr>
        <p:txBody>
          <a:bodyPr wrap="square" lIns="152400" tIns="152400" rIns="152400" bIns="152400" rtlCol="0" anchor="t"/>
          <a:lstStyle/>
          <a:p>
            <a:pPr indent="0" marL="0">
              <a:buNone/>
            </a:pPr>
            <a:r>
              <a:rPr lang="en-US" sz="1800" b="1" dirty="0">
                <a:solidFill>
                  <a:schemeClr val="accent2"/>
                </a:solidFill>
              </a:rPr>
              <a:t>Undetected, τ</a:t>
            </a:r>
            <a:endParaRPr lang="en-US" sz="1600" dirty="0"/>
          </a:p>
          <a:p>
            <a:pPr indent="0" marL="0">
              <a:spcBef>
                <a:spcPts val="600"/>
              </a:spcBef>
              <a:buNone/>
            </a:pPr>
            <a:r>
              <a:rPr lang="en-US" sz="1400" dirty="0">
                <a:solidFill>
                  <a:schemeClr val="accent6"/>
                </a:solidFill>
              </a:rPr>
              <a:t>Healthy controller still flying a 3-rotor vehicle</a:t>
            </a:r>
            <a:endParaRPr lang="en-US" sz="1600" dirty="0"/>
          </a:p>
        </p:txBody>
      </p:sp>
      <p:sp>
        <p:nvSpPr>
          <p:cNvPr id="10" name="arrow 3"/>
          <p:cNvSpPr/>
          <p:nvPr/>
        </p:nvSpPr>
        <p:spPr>
          <a:xfrm>
            <a:off x="7095744" y="2423160"/>
            <a:ext cx="256032" cy="274320"/>
          </a:xfrm>
          <a:prstGeom prst="rightArrow">
            <a:avLst/>
          </a:prstGeom>
          <a:solidFill>
            <a:schemeClr val="accent6"/>
          </a:solidFill>
          <a:ln w="12700">
            <a:solidFill>
              <a:schemeClr val="accent6"/>
            </a:solidFill>
            <a:prstDash val="solid"/>
          </a:ln>
        </p:spPr>
      </p:sp>
      <p:sp>
        <p:nvSpPr>
          <p:cNvPr id="11" name="step 4"/>
          <p:cNvSpPr txBox="1"/>
          <p:nvPr/>
        </p:nvSpPr>
        <p:spPr>
          <a:xfrm>
            <a:off x="7406640" y="1783080"/>
            <a:ext cx="1920240" cy="1554480"/>
          </a:xfrm>
          <a:prstGeom prst="roundRect">
            <a:avLst>
              <a:gd name="adj" fmla="val 4706"/>
            </a:avLst>
          </a:prstGeom>
          <a:solidFill>
            <a:schemeClr val="bg2"/>
          </a:solidFill>
          <a:ln w="9525">
            <a:solidFill>
              <a:schemeClr val="bg2"/>
            </a:solidFill>
          </a:ln>
        </p:spPr>
        <p:txBody>
          <a:bodyPr wrap="square" lIns="152400" tIns="152400" rIns="152400" bIns="152400" rtlCol="0" anchor="t"/>
          <a:lstStyle/>
          <a:p>
            <a:pPr indent="0" marL="0">
              <a:buNone/>
            </a:pPr>
            <a:r>
              <a:rPr lang="en-US" sz="1800" b="1" dirty="0">
                <a:solidFill>
                  <a:schemeClr val="tx2"/>
                </a:solidFill>
              </a:rPr>
              <a:t>Capture</a:t>
            </a:r>
            <a:endParaRPr lang="en-US" sz="1600" dirty="0"/>
          </a:p>
          <a:p>
            <a:pPr indent="0" marL="0">
              <a:spcBef>
                <a:spcPts val="600"/>
              </a:spcBef>
              <a:buNone/>
            </a:pPr>
            <a:r>
              <a:rPr lang="en-US" sz="1400" dirty="0">
                <a:solidFill>
                  <a:schemeClr val="accent6"/>
                </a:solidFill>
              </a:rPr>
              <a:t>Failure controller takes over</a:t>
            </a:r>
            <a:endParaRPr lang="en-US" sz="1600" dirty="0"/>
          </a:p>
        </p:txBody>
      </p:sp>
      <p:sp>
        <p:nvSpPr>
          <p:cNvPr id="12" name="arrow 4"/>
          <p:cNvSpPr/>
          <p:nvPr/>
        </p:nvSpPr>
        <p:spPr>
          <a:xfrm>
            <a:off x="9381744" y="2423160"/>
            <a:ext cx="256032" cy="274320"/>
          </a:xfrm>
          <a:prstGeom prst="rightArrow">
            <a:avLst/>
          </a:prstGeom>
          <a:solidFill>
            <a:schemeClr val="accent6"/>
          </a:solidFill>
          <a:ln w="12700">
            <a:solidFill>
              <a:schemeClr val="accent6"/>
            </a:solidFill>
            <a:prstDash val="solid"/>
          </a:ln>
        </p:spPr>
      </p:sp>
      <p:sp>
        <p:nvSpPr>
          <p:cNvPr id="13" name="step 5"/>
          <p:cNvSpPr txBox="1"/>
          <p:nvPr/>
        </p:nvSpPr>
        <p:spPr>
          <a:xfrm>
            <a:off x="9692640" y="1783080"/>
            <a:ext cx="1920240" cy="1554480"/>
          </a:xfrm>
          <a:prstGeom prst="roundRect">
            <a:avLst>
              <a:gd name="adj" fmla="val 4706"/>
            </a:avLst>
          </a:prstGeom>
          <a:solidFill>
            <a:schemeClr val="accent4"/>
          </a:solidFill>
          <a:ln w="9525">
            <a:solidFill>
              <a:schemeClr val="accent4"/>
            </a:solidFill>
          </a:ln>
        </p:spPr>
        <p:txBody>
          <a:bodyPr wrap="square" lIns="152400" tIns="152400" rIns="152400" bIns="152400" rtlCol="0" anchor="t"/>
          <a:lstStyle/>
          <a:p>
            <a:pPr indent="0" marL="0">
              <a:buNone/>
            </a:pPr>
            <a:r>
              <a:rPr lang="en-US" sz="1800" b="1" dirty="0">
                <a:solidFill>
                  <a:schemeClr val="tx2"/>
                </a:solidFill>
              </a:rPr>
              <a:t>Relaxed hover</a:t>
            </a:r>
            <a:endParaRPr lang="en-US" sz="1600" dirty="0"/>
          </a:p>
          <a:p>
            <a:pPr indent="0" marL="0">
              <a:spcBef>
                <a:spcPts val="600"/>
              </a:spcBef>
              <a:buNone/>
            </a:pPr>
            <a:r>
              <a:rPr lang="en-US" sz="1400" dirty="0">
                <a:solidFill>
                  <a:schemeClr val="accent6"/>
                </a:solidFill>
              </a:rPr>
              <a:t>Steady spin ≈ 19 rad/s, axis tilted</a:t>
            </a:r>
            <a:endParaRPr lang="en-US" sz="1600" dirty="0"/>
          </a:p>
        </p:txBody>
      </p:sp>
      <p:sp>
        <p:nvSpPr>
          <p:cNvPr id="14" name="gap statement"/>
          <p:cNvSpPr txBox="1"/>
          <p:nvPr/>
        </p:nvSpPr>
        <p:spPr>
          <a:xfrm>
            <a:off x="548640" y="3840480"/>
            <a:ext cx="11064240" cy="1234440"/>
          </a:xfrm>
          <a:prstGeom prst="roundRect">
            <a:avLst>
              <a:gd name="adj" fmla="val 5926"/>
            </a:avLst>
          </a:prstGeom>
          <a:solidFill>
            <a:schemeClr val="bg2"/>
          </a:solidFill>
          <a:ln>
            <a:solidFill>
              <a:schemeClr val="bg2"/>
            </a:solidFill>
          </a:ln>
        </p:spPr>
        <p:txBody>
          <a:bodyPr wrap="square" lIns="152400" tIns="152400" rIns="152400" bIns="152400" rtlCol="0" anchor="t"/>
          <a:lstStyle/>
          <a:p>
            <a:pPr indent="0" marL="0">
              <a:buNone/>
            </a:pPr>
            <a:r>
              <a:rPr lang="en-US" sz="2000" b="1" dirty="0">
                <a:solidFill>
                  <a:schemeClr val="tx2"/>
                </a:solidFill>
              </a:rPr>
              <a:t>Most recovery methods with a guarantee assume τ = 0.</a:t>
            </a:r>
            <a:endParaRPr lang="en-US" sz="1600" dirty="0"/>
          </a:p>
          <a:p>
            <a:pPr indent="0" marL="0">
              <a:spcBef>
                <a:spcPts val="800"/>
              </a:spcBef>
              <a:buNone/>
            </a:pPr>
            <a:r>
              <a:rPr lang="en-US" sz="1600" dirty="0">
                <a:solidFill>
                  <a:schemeClr val="tx1"/>
                </a:solidFill>
              </a:rPr>
              <a:t>Stability with a fixed delay is shown for a linear model; a certified maximum delay under thrust limits was not found.</a:t>
            </a:r>
            <a:endParaRPr lang="en-US" sz="1600" dirty="0"/>
          </a:p>
        </p:txBody>
      </p:sp>
      <p:sp>
        <p:nvSpPr>
          <p:cNvPr id="15" name="sources"/>
          <p:cNvSpPr txBox="1"/>
          <p:nvPr/>
        </p:nvSpPr>
        <p:spPr>
          <a:xfrm>
            <a:off x="548640" y="5303520"/>
            <a:ext cx="11064240" cy="320040"/>
          </a:xfrm>
          <a:prstGeom prst="rect">
            <a:avLst/>
          </a:prstGeom>
          <a:noFill/>
          <a:ln/>
        </p:spPr>
        <p:txBody>
          <a:bodyPr wrap="square" lIns="0" tIns="0" rIns="0" bIns="0" rtlCol="0" anchor="t"/>
          <a:lstStyle/>
          <a:p>
            <a:pPr indent="0" marL="0">
              <a:buNone/>
            </a:pPr>
            <a:r>
              <a:rPr lang="en-US" sz="1200" dirty="0">
                <a:solidFill>
                  <a:schemeClr val="accent6"/>
                </a:solidFill>
              </a:rPr>
              <a:t>Simha et al. 2017; Al Lawati &amp; Akhtar 2026; Başak &amp; Prempain 2015; Strack van Schijndel et al. 2021</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1"/>
                </a:solidFill>
              </a:rPr>
              <a:t>FOUNDATION</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Simulator and vehicle</a:t>
            </a:r>
            <a:endParaRPr lang="en-US" sz="3000" dirty="0"/>
          </a:p>
        </p:txBody>
      </p:sp>
      <p:sp>
        <p:nvSpPr>
          <p:cNvPr id="5" name="model bullets"/>
          <p:cNvSpPr txBox="1"/>
          <p:nvPr/>
        </p:nvSpPr>
        <p:spPr>
          <a:xfrm>
            <a:off x="548640" y="1600200"/>
            <a:ext cx="6035040" cy="42062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6-DOF rigid body, quaternion attitude, rotor gyroscopic terms</a:t>
            </a:r>
            <a:endParaRPr lang="en-US" sz="1700" dirty="0"/>
          </a:p>
          <a:p>
            <a:pPr marL="342900" indent="-342900">
              <a:spcAft>
                <a:spcPts val="800"/>
              </a:spcAft>
              <a:buSzPct val="100000"/>
              <a:buChar char="•"/>
            </a:pPr>
            <a:r>
              <a:rPr lang="en-US" sz="1700" dirty="0">
                <a:solidFill>
                  <a:schemeClr val="tx1"/>
                </a:solidFill>
              </a:rPr>
              <a:t>Per-rotor thrust 0.2–3.8 N; a motor can also be stopped</a:t>
            </a:r>
            <a:endParaRPr lang="en-US" sz="1700" dirty="0"/>
          </a:p>
          <a:p>
            <a:pPr marL="342900" indent="-342900">
              <a:spcAft>
                <a:spcPts val="800"/>
              </a:spcAft>
              <a:buSzPct val="100000"/>
              <a:buChar char="•"/>
            </a:pPr>
            <a:r>
              <a:rPr lang="en-US" sz="1700" dirty="0">
                <a:solidFill>
                  <a:schemeClr val="tx1"/>
                </a:solidFill>
              </a:rPr>
              <a:t>First-order motor lag, 15 ms</a:t>
            </a:r>
            <a:endParaRPr lang="en-US" sz="1700" dirty="0"/>
          </a:p>
          <a:p>
            <a:pPr marL="342900" indent="-342900">
              <a:spcAft>
                <a:spcPts val="800"/>
              </a:spcAft>
              <a:buSzPct val="100000"/>
              <a:buChar char="•"/>
            </a:pPr>
            <a:r>
              <a:rPr lang="en-US" sz="1700" dirty="0">
                <a:solidFill>
                  <a:schemeClr val="tx1"/>
                </a:solidFill>
              </a:rPr>
              <a:t>Reduced attitude n = Rᵀe₃: the "up" direction seen from the body</a:t>
            </a:r>
            <a:endParaRPr lang="en-US" sz="1700" dirty="0"/>
          </a:p>
          <a:p>
            <a:pPr marL="342900" indent="-342900">
              <a:spcAft>
                <a:spcPts val="800"/>
              </a:spcAft>
              <a:buSzPct val="100000"/>
              <a:buChar char="•"/>
            </a:pPr>
            <a:r>
              <a:rPr lang="en-US" sz="1700" dirty="0">
                <a:solidFill>
                  <a:schemeClr val="tx1"/>
                </a:solidFill>
              </a:rPr>
              <a:t>RK4 integration; controller at 1–5 ms (zero-order hold)</a:t>
            </a:r>
            <a:endParaRPr lang="en-US" sz="1700" dirty="0"/>
          </a:p>
          <a:p>
            <a:pPr marL="342900" indent="-342900">
              <a:spcAft>
                <a:spcPts val="800"/>
              </a:spcAft>
              <a:buSzPct val="100000"/>
              <a:buChar char="•"/>
            </a:pPr>
            <a:r>
              <a:rPr lang="en-US" sz="1700" dirty="0">
                <a:solidFill>
                  <a:schemeClr val="tx1"/>
                </a:solidFill>
              </a:rPr>
              <a:t>Truth plants for learning add thrust loss at high spin, inertia error and a different motor lag</a:t>
            </a:r>
            <a:endParaRPr lang="en-US" sz="1700" dirty="0"/>
          </a:p>
        </p:txBody>
      </p:sp>
      <p:graphicFrame>
        <p:nvGraphicFramePr>
          <p:cNvPr id="5" name="parameter table"/>
          <p:cNvGraphicFramePr>
            <a:graphicFrameLocks noGrp="1"/>
          </p:cNvGraphicFramePr>
          <p:nvPr>
            <p:extLst>
              <p:ext uri="{D42A27DB-BD31-4B8C-83A1-F6EECF244321}">
                <p14:modId xmlns:p14="http://schemas.microsoft.com/office/powerpoint/2010/main" val="1579011935"/>
              </p:ext>
            </p:extLst>
          </p:nvPr>
        </p:nvGraphicFramePr>
        <p:xfrm>
          <a:off x="6949440" y="1600200"/>
          <a:ext cx="4663440" cy="914400"/>
        </p:xfrm>
        <a:graphic>
          <a:graphicData uri="http://schemas.openxmlformats.org/drawingml/2006/table">
            <a:tbl>
              <a:tblPr/>
              <a:tblGrid>
                <a:gridCol w="2377440"/>
                <a:gridCol w="2286000"/>
              </a:tblGrid>
              <a:tr h="0">
                <a:tc>
                  <a:txBody>
                    <a:bodyPr/>
                    <a:lstStyle/>
                    <a:p>
                      <a:pPr indent="0" marL="0">
                        <a:buNone/>
                      </a:pPr>
                      <a:r>
                        <a:rPr lang="en-US" sz="1400" b="1" dirty="0">
                          <a:solidFill>
                            <a:schemeClr val="tx1"/>
                          </a:solidFill>
                        </a:rPr>
                        <a:t>Parameter</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tx1"/>
                          </a:solidFill>
                        </a:rPr>
                        <a:t>Value</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r>
              <a:tr h="0">
                <a:tc>
                  <a:txBody>
                    <a:bodyPr/>
                    <a:lstStyle/>
                    <a:p>
                      <a:pPr indent="0" marL="0">
                        <a:buNone/>
                      </a:pPr>
                      <a:r>
                        <a:rPr lang="en-US" sz="1400" dirty="0">
                          <a:solidFill>
                            <a:schemeClr val="tx1"/>
                          </a:solidFill>
                        </a:rPr>
                        <a:t>Mass</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0.50 kg</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0">
                <a:tc>
                  <a:txBody>
                    <a:bodyPr/>
                    <a:lstStyle/>
                    <a:p>
                      <a:pPr indent="0" marL="0">
                        <a:buNone/>
                      </a:pPr>
                      <a:r>
                        <a:rPr lang="en-US" sz="1400" dirty="0">
                          <a:solidFill>
                            <a:schemeClr val="tx1"/>
                          </a:solidFill>
                        </a:rPr>
                        <a:t>Arm length</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0.17 m</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0">
                <a:tc>
                  <a:txBody>
                    <a:bodyPr/>
                    <a:lstStyle/>
                    <a:p>
                      <a:pPr indent="0" marL="0">
                        <a:buNone/>
                      </a:pPr>
                      <a:r>
                        <a:rPr lang="en-US" sz="1400" dirty="0">
                          <a:solidFill>
                            <a:schemeClr val="tx1"/>
                          </a:solidFill>
                        </a:rPr>
                        <a:t>Inertia Ixx, Izz</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3.2, 5.5 × 10⁻³ kg m²</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0">
                <a:tc>
                  <a:txBody>
                    <a:bodyPr/>
                    <a:lstStyle/>
                    <a:p>
                      <a:pPr indent="0" marL="0">
                        <a:buNone/>
                      </a:pPr>
                      <a:r>
                        <a:rPr lang="en-US" sz="1400" dirty="0">
                          <a:solidFill>
                            <a:schemeClr val="tx1"/>
                          </a:solidFill>
                        </a:rPr>
                        <a:t>Thrust coefficient κf</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6.41 × 10⁻⁶ N s²/rad²</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0">
                <a:tc>
                  <a:txBody>
                    <a:bodyPr/>
                    <a:lstStyle/>
                    <a:p>
                      <a:pPr indent="0" marL="0">
                        <a:buNone/>
                      </a:pPr>
                      <a:r>
                        <a:rPr lang="en-US" sz="1400" dirty="0">
                          <a:solidFill>
                            <a:schemeClr val="tx1"/>
                          </a:solidFill>
                        </a:rPr>
                        <a:t>Torque ratio κτ</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0.0169 m</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0">
                <a:tc>
                  <a:txBody>
                    <a:bodyPr/>
                    <a:lstStyle/>
                    <a:p>
                      <a:pPr indent="0" marL="0">
                        <a:buNone/>
                      </a:pPr>
                      <a:r>
                        <a:rPr lang="en-US" sz="1400" dirty="0">
                          <a:solidFill>
                            <a:schemeClr val="tx1"/>
                          </a:solidFill>
                        </a:rPr>
                        <a:t>Yaw drag γ</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2.75 × 10⁻³ N m s/rad</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bl>
          </a:graphicData>
        </a:graphic>
      </p:graphicFrame>
      <p:sp>
        <p:nvSpPr>
          <p:cNvPr id="7" name="param source"/>
          <p:cNvSpPr txBox="1"/>
          <p:nvPr/>
        </p:nvSpPr>
        <p:spPr>
          <a:xfrm>
            <a:off x="6949440" y="4526280"/>
            <a:ext cx="4663440" cy="320040"/>
          </a:xfrm>
          <a:prstGeom prst="rect">
            <a:avLst/>
          </a:prstGeom>
          <a:noFill/>
          <a:ln/>
        </p:spPr>
        <p:txBody>
          <a:bodyPr wrap="square" lIns="0" tIns="0" rIns="0" bIns="0" rtlCol="0" anchor="t"/>
          <a:lstStyle/>
          <a:p>
            <a:pPr indent="0" marL="0">
              <a:buNone/>
            </a:pPr>
            <a:r>
              <a:rPr lang="en-US" sz="1200" dirty="0">
                <a:solidFill>
                  <a:schemeClr val="accent6"/>
                </a:solidFill>
              </a:rPr>
              <a:t>All values from Mueller &amp; D'Andrea, ICRA 2014, Sec. V-A</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1"/>
                </a:solidFill>
              </a:rPr>
              <a:t>FOUNDATION</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The model matches three published papers</a:t>
            </a:r>
            <a:endParaRPr lang="en-US" sz="3000" dirty="0"/>
          </a:p>
        </p:txBody>
      </p:sp>
      <p:graphicFrame>
        <p:nvGraphicFramePr>
          <p:cNvPr id="6" name="validation table"/>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194560"/>
                <a:gridCol w="4480560"/>
                <a:gridCol w="4389120"/>
              </a:tblGrid>
              <a:tr h="384048">
                <a:tc>
                  <a:txBody>
                    <a:bodyPr/>
                    <a:lstStyle/>
                    <a:p>
                      <a:pPr indent="0" marL="0">
                        <a:buNone/>
                      </a:pPr>
                      <a:r>
                        <a:rPr lang="en-US" sz="1400" b="1" dirty="0">
                          <a:solidFill>
                            <a:schemeClr val="tx1"/>
                          </a:solidFill>
                        </a:rPr>
                        <a:t>Source</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tx1"/>
                          </a:solidFill>
                        </a:rPr>
                        <a:t>What we compared</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tx1"/>
                          </a:solidFill>
                        </a:rPr>
                        <a:t>Result</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r>
              <a:tr h="384048">
                <a:tc>
                  <a:txBody>
                    <a:bodyPr/>
                    <a:lstStyle/>
                    <a:p>
                      <a:pPr indent="0" marL="0">
                        <a:buNone/>
                      </a:pPr>
                      <a:r>
                        <a:rPr lang="en-US" sz="1400" dirty="0">
                          <a:solidFill>
                            <a:schemeClr val="tx1"/>
                          </a:solidFill>
                        </a:rPr>
                        <a:t>ICRA 2014</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Two-rotor-loss equilibrium</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All published digits (≤ 0.14%)</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84048">
                <a:tc>
                  <a:txBody>
                    <a:bodyPr/>
                    <a:lstStyle/>
                    <a:p>
                      <a:pPr indent="0" marL="0">
                        <a:buNone/>
                      </a:pPr>
                      <a:r>
                        <a:rPr lang="en-US" sz="1400" dirty="0">
                          <a:solidFill>
                            <a:schemeClr val="tx1"/>
                          </a:solidFill>
                        </a:rPr>
                        <a:t>ICRA 2014</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Three-rotor-loss equilibrium</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All published digits (≤ 0.8%)</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84048">
                <a:tc>
                  <a:txBody>
                    <a:bodyPr/>
                    <a:lstStyle/>
                    <a:p>
                      <a:pPr indent="0" marL="0">
                        <a:buNone/>
                      </a:pPr>
                      <a:r>
                        <a:rPr lang="en-US" sz="1400" dirty="0">
                          <a:solidFill>
                            <a:schemeClr val="tx1"/>
                          </a:solidFill>
                        </a:rPr>
                        <a:t>ICRA 2014</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One-rotor-loss equilibrium</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f, r, n_z ≤ 0.5%; pitch rate −6% *</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84048">
                <a:tc>
                  <a:txBody>
                    <a:bodyPr/>
                    <a:lstStyle/>
                    <a:p>
                      <a:pPr indent="0" marL="0">
                        <a:buNone/>
                      </a:pPr>
                      <a:r>
                        <a:rPr lang="en-US" sz="1400" dirty="0">
                          <a:solidFill>
                            <a:schemeClr val="tx1"/>
                          </a:solidFill>
                        </a:rPr>
                        <a:t>ICRA 2014</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ā and controllability loss (eqs. 28, 39)</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Exact</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84048">
                <a:tc>
                  <a:txBody>
                    <a:bodyPr/>
                    <a:lstStyle/>
                    <a:p>
                      <a:pPr indent="0" marL="0">
                        <a:buNone/>
                      </a:pPr>
                      <a:r>
                        <a:rPr lang="en-US" sz="1400" dirty="0">
                          <a:solidFill>
                            <a:schemeClr val="tx1"/>
                          </a:solidFill>
                        </a:rPr>
                        <a:t>IJRR 2016</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Five failure cases, own implementation</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Body rates within 4%</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84048">
                <a:tc>
                  <a:txBody>
                    <a:bodyPr/>
                    <a:lstStyle/>
                    <a:p>
                      <a:pPr indent="0" marL="0">
                        <a:buNone/>
                      </a:pPr>
                      <a:r>
                        <a:rPr lang="en-US" sz="1400" dirty="0">
                          <a:solidFill>
                            <a:schemeClr val="tx1"/>
                          </a:solidFill>
                        </a:rPr>
                        <a:t>Sun et al. 2020</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Bebop 2, two-rotor loss (eq. 60)</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Exact</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84048">
                <a:tc>
                  <a:txBody>
                    <a:bodyPr/>
                    <a:lstStyle/>
                    <a:p>
                      <a:pPr indent="0" marL="0">
                        <a:buNone/>
                      </a:pPr>
                      <a:r>
                        <a:rPr lang="en-US" sz="1400" dirty="0">
                          <a:solidFill>
                            <a:schemeClr val="tx1"/>
                          </a:solidFill>
                        </a:rPr>
                        <a:t>Flight data</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indent="0" marL="0">
                        <a:buNone/>
                      </a:pPr>
                      <a:r>
                        <a:rPr lang="en-US" sz="1400" dirty="0">
                          <a:solidFill>
                            <a:schemeClr val="tx1"/>
                          </a:solidFill>
                        </a:rPr>
                        <a:t>Spin-up to 10 rad/s at the flight thrust (2.95 N)</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tx1"/>
                          </a:solidFill>
                        </a:rPr>
                        <a:t>0.65 s vs 0.62 s in flight (4%)</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r>
            </a:tbl>
          </a:graphicData>
        </a:graphic>
      </p:graphicFrame>
      <p:sp>
        <p:nvSpPr>
          <p:cNvPr id="6" name="validation note"/>
          <p:cNvSpPr txBox="1"/>
          <p:nvPr/>
        </p:nvSpPr>
        <p:spPr>
          <a:xfrm>
            <a:off x="548640" y="4892040"/>
            <a:ext cx="11064240" cy="640080"/>
          </a:xfrm>
          <a:prstGeom prst="rect">
            <a:avLst/>
          </a:prstGeom>
          <a:noFill/>
          <a:ln/>
        </p:spPr>
        <p:txBody>
          <a:bodyPr wrap="square" lIns="0" tIns="0" rIns="0" bIns="0" rtlCol="0" anchor="t"/>
          <a:lstStyle/>
          <a:p>
            <a:pPr indent="0" marL="0">
              <a:buNone/>
            </a:pPr>
            <a:r>
              <a:rPr lang="en-US" sz="1400" dirty="0">
                <a:solidFill>
                  <a:schemeClr val="accent6"/>
                </a:solidFill>
              </a:rPr>
              <a:t>* The paper's own published values do not satisfy its eq. (12); its other two cases match exactly. </a:t>
            </a:r>
            <a:pPr indent="0" marL="0">
              <a:buNone/>
            </a:pPr>
            <a:r>
              <a:rPr lang="en-US" sz="1400" b="1" dirty="0">
                <a:solidFill>
                  <a:schemeClr val="accent6"/>
                </a:solidFill>
              </a:rPr>
              <a:t>46 automated tests</a:t>
            </a:r>
            <a:pPr indent="0" marL="0">
              <a:buNone/>
            </a:pPr>
            <a:r>
              <a:rPr lang="en-US" sz="1400" dirty="0">
                <a:solidFill>
                  <a:schemeClr val="accent6"/>
                </a:solidFill>
              </a:rPr>
              <a:t> also check conservation laws, closed-form solutions and these published numbers.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1"/>
                </a:solidFill>
              </a:rPr>
              <a:t>FOUNDATION</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The spinning equilibrium</a:t>
            </a:r>
            <a:endParaRPr lang="en-US" sz="3000" dirty="0"/>
          </a:p>
        </p:txBody>
      </p:sp>
      <p:pic>
        <p:nvPicPr>
          <p:cNvPr id="5" name="e1_rho_sweep.png" descr="Relaxed-hover equilibrium versus thrust ratio rho">    </p:cNvPr>
          <p:cNvPicPr>
            <a:picLocks noChangeAspect="1"/>
          </p:cNvPicPr>
          <p:nvPr/>
        </p:nvPicPr>
        <p:blipFill>
          <a:blip r:embed="rId1"/>
          <a:stretch>
            <a:fillRect/>
          </a:stretch>
        </p:blipFill>
        <p:spPr>
          <a:xfrm>
            <a:off x="548640" y="1508760"/>
            <a:ext cx="6583680" cy="4382956"/>
          </a:xfrm>
          <a:prstGeom prst="rect">
            <a:avLst/>
          </a:prstGeom>
        </p:spPr>
      </p:pic>
      <p:sp>
        <p:nvSpPr>
          <p:cNvPr id="6" name="equilibrium text"/>
          <p:cNvSpPr txBox="1"/>
          <p:nvPr/>
        </p:nvSpPr>
        <p:spPr>
          <a:xfrm>
            <a:off x="7498080" y="1828800"/>
            <a:ext cx="4114800" cy="3657600"/>
          </a:xfrm>
          <a:prstGeom prst="rect">
            <a:avLst/>
          </a:prstGeom>
          <a:noFill/>
          <a:ln/>
        </p:spPr>
        <p:txBody>
          <a:bodyPr wrap="square" lIns="0" tIns="0" rIns="0" bIns="0" rtlCol="0" anchor="t"/>
          <a:lstStyle/>
          <a:p>
            <a:pPr indent="0" marL="0">
              <a:buNone/>
            </a:pPr>
            <a:r>
              <a:rPr lang="en-US" sz="1700" dirty="0">
                <a:solidFill>
                  <a:schemeClr val="tx1"/>
                </a:solidFill>
              </a:rPr>
              <a:t>Rotor 4 lost, design ratio ρ = f₂/f₁ = 0.5:</a:t>
            </a:r>
            <a:endParaRPr lang="en-US" sz="1700" dirty="0"/>
          </a:p>
          <a:p>
            <a:pPr indent="0" marL="0">
              <a:spcBef>
                <a:spcPts val="1200"/>
              </a:spcBef>
              <a:buNone/>
            </a:pPr>
            <a:r>
              <a:rPr lang="en-US" sz="1700" b="1" dirty="0">
                <a:solidFill>
                  <a:schemeClr val="tx2"/>
                </a:solidFill>
              </a:rPr>
              <a:t>f = (2.04, 1.02, 2.04) N</a:t>
            </a:r>
            <a:endParaRPr lang="en-US" sz="1700" dirty="0"/>
          </a:p>
          <a:p>
            <a:pPr indent="0" marL="0">
              <a:buNone/>
            </a:pPr>
            <a:r>
              <a:rPr lang="en-US" sz="1700" b="1" dirty="0">
                <a:solidFill>
                  <a:schemeClr val="tx2"/>
                </a:solidFill>
              </a:rPr>
              <a:t>spin 19.6 rad/s, axis tilted 16°</a:t>
            </a:r>
            <a:endParaRPr lang="en-US" sz="1700" dirty="0"/>
          </a:p>
          <a:p>
            <a:pPr indent="0" marL="0">
              <a:spcBef>
                <a:spcPts val="1600"/>
              </a:spcBef>
              <a:buNone/>
            </a:pPr>
            <a:r>
              <a:rPr lang="en-US" sz="1700" dirty="0">
                <a:solidFill>
                  <a:schemeClr val="tx1"/>
                </a:solidFill>
              </a:rPr>
              <a:t>Thrust, spin rate and tilt match the paper within 0.5%.</a:t>
            </a:r>
            <a:endParaRPr lang="en-US" sz="1700" dirty="0"/>
          </a:p>
          <a:p>
            <a:pPr indent="0" marL="0">
              <a:spcBef>
                <a:spcPts val="1600"/>
              </a:spcBef>
              <a:buNone/>
            </a:pPr>
            <a:r>
              <a:rPr lang="en-US" sz="1700" dirty="0">
                <a:solidFill>
                  <a:schemeClr val="tx1"/>
                </a:solidFill>
              </a:rPr>
              <a:t>The ρ sweep reproduces the paper's Fig. 3 (minimum spin 18.6 vs 19.0 rad/s).</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1"/>
                </a:solidFill>
              </a:rPr>
              <a:t>FOUNDATION</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Linear model: controllable, but what can we observe?</a:t>
            </a:r>
            <a:endParaRPr lang="en-US" sz="3000" dirty="0"/>
          </a:p>
        </p:txBody>
      </p:sp>
      <p:sp>
        <p:nvSpPr>
          <p:cNvPr id="5" name="linear model text"/>
          <p:cNvSpPr txBox="1"/>
          <p:nvPr/>
        </p:nvSpPr>
        <p:spPr>
          <a:xfrm>
            <a:off x="548640" y="1600200"/>
            <a:ext cx="4754880" cy="3291840"/>
          </a:xfrm>
          <a:prstGeom prst="rect">
            <a:avLst/>
          </a:prstGeom>
          <a:noFill/>
          <a:ln/>
        </p:spPr>
        <p:txBody>
          <a:bodyPr wrap="square" lIns="0" tIns="0" rIns="0" bIns="0" rtlCol="0" anchor="t"/>
          <a:lstStyle/>
          <a:p>
            <a:pPr indent="0" marL="0">
              <a:buNone/>
            </a:pPr>
            <a:r>
              <a:rPr lang="en-US" sz="1700" dirty="0">
                <a:solidFill>
                  <a:schemeClr val="tx1"/>
                </a:solidFill>
              </a:rPr>
              <a:t>7 states (p, q, r, n_x, n_y, z, v_z), inputs f₁, f₂, f₃. Linear and time-invariant in body axes.</a:t>
            </a:r>
            <a:endParaRPr lang="en-US" sz="1700" dirty="0"/>
          </a:p>
          <a:p>
            <a:pPr indent="0" marL="0">
              <a:spcBef>
                <a:spcPts val="1200"/>
              </a:spcBef>
              <a:buNone/>
            </a:pPr>
            <a:r>
              <a:rPr lang="en-US" sz="1700" dirty="0">
                <a:solidFill>
                  <a:schemeClr val="tx1"/>
                </a:solidFill>
              </a:rPr>
              <a:t>Open-loop modes: ±10.1j, ±19.6j, −0.51 and an altitude double integrator.</a:t>
            </a:r>
            <a:endParaRPr lang="en-US" sz="1700" dirty="0"/>
          </a:p>
          <a:p>
            <a:pPr indent="0" marL="0">
              <a:spcBef>
                <a:spcPts val="1200"/>
              </a:spcBef>
              <a:buNone/>
            </a:pPr>
            <a:r>
              <a:rPr lang="en-US" sz="1700" b="1" dirty="0">
                <a:solidFill>
                  <a:schemeClr val="tx1"/>
                </a:solidFill>
              </a:rPr>
              <a:t>Controllable: </a:t>
            </a:r>
            <a:pPr indent="0" marL="0">
              <a:buNone/>
            </a:pPr>
            <a:r>
              <a:rPr lang="en-US" sz="1700" dirty="0">
                <a:solidFill>
                  <a:schemeClr val="tx1"/>
                </a:solidFill>
              </a:rPr>
              <a:t>rank 7 of 7; every mode passes the PBH test.</a:t>
            </a:r>
            <a:endParaRPr lang="en-US" sz="1700" dirty="0"/>
          </a:p>
        </p:txBody>
      </p:sp>
      <p:graphicFrame>
        <p:nvGraphicFramePr>
          <p:cNvPr id="8" name="observability table"/>
          <p:cNvGraphicFramePr>
            <a:graphicFrameLocks noGrp="1"/>
          </p:cNvGraphicFramePr>
          <p:nvPr>
            <p:extLst>
              <p:ext uri="{D42A27DB-BD31-4B8C-83A1-F6EECF244321}">
                <p14:modId xmlns:p14="http://schemas.microsoft.com/office/powerpoint/2010/main" val="1579011935"/>
              </p:ext>
            </p:extLst>
          </p:nvPr>
        </p:nvGraphicFramePr>
        <p:xfrm>
          <a:off x="5760720" y="1600200"/>
          <a:ext cx="5852160" cy="914400"/>
        </p:xfrm>
        <a:graphic>
          <a:graphicData uri="http://schemas.openxmlformats.org/drawingml/2006/table">
            <a:tbl>
              <a:tblPr/>
              <a:tblGrid>
                <a:gridCol w="2743200"/>
                <a:gridCol w="1097280"/>
                <a:gridCol w="2011680"/>
              </a:tblGrid>
              <a:tr h="384048">
                <a:tc>
                  <a:txBody>
                    <a:bodyPr/>
                    <a:lstStyle/>
                    <a:p>
                      <a:pPr indent="0" marL="0">
                        <a:buNone/>
                      </a:pPr>
                      <a:r>
                        <a:rPr lang="en-US" sz="1400" b="1" dirty="0">
                          <a:solidFill>
                            <a:schemeClr val="tx1"/>
                          </a:solidFill>
                        </a:rPr>
                        <a:t>Sensors</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tx1"/>
                          </a:solidFill>
                        </a:rPr>
                        <a:t>Rank</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tx1"/>
                          </a:solidFill>
                        </a:rPr>
                        <a:t>Missing</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r>
              <a:tr h="384048">
                <a:tc>
                  <a:txBody>
                    <a:bodyPr/>
                    <a:lstStyle/>
                    <a:p>
                      <a:pPr indent="0" marL="0">
                        <a:buNone/>
                      </a:pPr>
                      <a:r>
                        <a:rPr lang="en-US" sz="1400" dirty="0">
                          <a:solidFill>
                            <a:schemeClr val="tx1"/>
                          </a:solidFill>
                        </a:rPr>
                        <a:t>Gyro</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3 / 7</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tilt, altitude</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84048">
                <a:tc>
                  <a:txBody>
                    <a:bodyPr/>
                    <a:lstStyle/>
                    <a:p>
                      <a:pPr indent="0" marL="0">
                        <a:buNone/>
                      </a:pPr>
                      <a:r>
                        <a:rPr lang="en-US" sz="1400" dirty="0">
                          <a:solidFill>
                            <a:schemeClr val="tx1"/>
                          </a:solidFill>
                        </a:rPr>
                        <a:t>Gyro + tilt estimate</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5 / 7</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altitude</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84048">
                <a:tc>
                  <a:txBody>
                    <a:bodyPr/>
                    <a:lstStyle/>
                    <a:p>
                      <a:pPr indent="0" marL="0">
                        <a:buNone/>
                      </a:pPr>
                      <a:r>
                        <a:rPr lang="en-US" sz="1400" dirty="0">
                          <a:solidFill>
                            <a:schemeClr val="tx1"/>
                          </a:solidFill>
                        </a:rPr>
                        <a:t>Gyro + barometer</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indent="0" marL="0">
                        <a:buNone/>
                      </a:pPr>
                      <a:r>
                        <a:rPr lang="en-US" sz="1400" dirty="0">
                          <a:solidFill>
                            <a:schemeClr val="tx1"/>
                          </a:solidFill>
                        </a:rPr>
                        <a:t>7 / 7</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indent="0" marL="0">
                        <a:buNone/>
                      </a:pPr>
                      <a:r>
                        <a:rPr lang="en-US" sz="1400" dirty="0">
                          <a:solidFill>
                            <a:schemeClr val="tx1"/>
                          </a:solidFill>
                        </a:rPr>
                        <a:t>none (weak)</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r>
              <a:tr h="384048">
                <a:tc>
                  <a:txBody>
                    <a:bodyPr/>
                    <a:lstStyle/>
                    <a:p>
                      <a:pPr indent="0" marL="0">
                        <a:buNone/>
                      </a:pPr>
                      <a:r>
                        <a:rPr lang="en-US" sz="1400" dirty="0">
                          <a:solidFill>
                            <a:schemeClr val="tx1"/>
                          </a:solidFill>
                        </a:rPr>
                        <a:t>Gyro + tilt + barometer</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7 / 7</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none</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bl>
          </a:graphicData>
        </a:graphic>
      </p:graphicFrame>
      <p:sp>
        <p:nvSpPr>
          <p:cNvPr id="7" name="observability note"/>
          <p:cNvSpPr txBox="1"/>
          <p:nvPr/>
        </p:nvSpPr>
        <p:spPr>
          <a:xfrm>
            <a:off x="5760720" y="3794760"/>
            <a:ext cx="5852160" cy="1097280"/>
          </a:xfrm>
          <a:prstGeom prst="rect">
            <a:avLst/>
          </a:prstGeom>
          <a:noFill/>
          <a:ln/>
        </p:spPr>
        <p:txBody>
          <a:bodyPr wrap="square" lIns="0" tIns="0" rIns="0" bIns="0" rtlCol="0" anchor="t"/>
          <a:lstStyle/>
          <a:p>
            <a:pPr indent="0" marL="0">
              <a:buNone/>
            </a:pPr>
            <a:r>
              <a:rPr lang="en-US" sz="1500" dirty="0">
                <a:solidFill>
                  <a:schemeClr val="accent6"/>
                </a:solidFill>
              </a:rPr>
              <a:t>The equilibrium is tilted, so vertical acceleration depends on tilt. A barometer alone then reveals the tilt, but about 2,700× more weakly than a tilt sensor (observability Gramian).</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1"/>
                </a:solidFill>
              </a:rPr>
              <a:t>FOUNDATION</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LQR baseline at the spinning equilibrium</a:t>
            </a:r>
            <a:endParaRPr lang="en-US" sz="3000" dirty="0"/>
          </a:p>
        </p:txBody>
      </p:sp>
      <p:sp>
        <p:nvSpPr>
          <p:cNvPr id="5" name="stat 18 ms"/>
          <p:cNvSpPr txBox="1"/>
          <p:nvPr/>
        </p:nvSpPr>
        <p:spPr>
          <a:xfrm>
            <a:off x="548640" y="1508760"/>
            <a:ext cx="3566160" cy="1005840"/>
          </a:xfrm>
          <a:prstGeom prst="rect">
            <a:avLst/>
          </a:prstGeom>
          <a:noFill/>
          <a:ln/>
        </p:spPr>
        <p:txBody>
          <a:bodyPr wrap="square" lIns="0" tIns="0" rIns="0" bIns="0" rtlCol="0" anchor="t"/>
          <a:lstStyle/>
          <a:p>
            <a:pPr indent="0" marL="0">
              <a:buNone/>
            </a:pPr>
            <a:r>
              <a:rPr lang="en-US" sz="3600" b="1" dirty="0">
                <a:solidFill>
                  <a:schemeClr val="tx2"/>
                </a:solidFill>
              </a:rPr>
              <a:t>18 ms</a:t>
            </a:r>
            <a:endParaRPr lang="en-US" sz="1600" dirty="0"/>
          </a:p>
          <a:p>
            <a:pPr indent="0" marL="0">
              <a:buNone/>
            </a:pPr>
            <a:r>
              <a:rPr lang="en-US" sz="1300" dirty="0">
                <a:solidFill>
                  <a:schemeClr val="accent6"/>
                </a:solidFill>
              </a:rPr>
              <a:t>input-delay margin (healthy LQR: 40 ms)</a:t>
            </a:r>
            <a:endParaRPr lang="en-US" sz="1600" dirty="0"/>
          </a:p>
        </p:txBody>
      </p:sp>
      <p:sp>
        <p:nvSpPr>
          <p:cNvPr id="6" name="stat ζ ≈ 0.19"/>
          <p:cNvSpPr txBox="1"/>
          <p:nvPr/>
        </p:nvSpPr>
        <p:spPr>
          <a:xfrm>
            <a:off x="4297680" y="1508760"/>
            <a:ext cx="3566160" cy="1005840"/>
          </a:xfrm>
          <a:prstGeom prst="rect">
            <a:avLst/>
          </a:prstGeom>
          <a:noFill/>
          <a:ln/>
        </p:spPr>
        <p:txBody>
          <a:bodyPr wrap="square" lIns="0" tIns="0" rIns="0" bIns="0" rtlCol="0" anchor="t"/>
          <a:lstStyle/>
          <a:p>
            <a:pPr indent="0" marL="0">
              <a:buNone/>
            </a:pPr>
            <a:r>
              <a:rPr lang="en-US" sz="3600" b="1" dirty="0">
                <a:solidFill>
                  <a:schemeClr val="tx2"/>
                </a:solidFill>
              </a:rPr>
              <a:t>ζ ≈ 0.19</a:t>
            </a:r>
            <a:endParaRPr lang="en-US" sz="1600" dirty="0"/>
          </a:p>
          <a:p>
            <a:pPr indent="0" marL="0">
              <a:buNone/>
            </a:pPr>
            <a:r>
              <a:rPr lang="en-US" sz="1300" dirty="0">
                <a:solidFill>
                  <a:schemeClr val="accent6"/>
                </a:solidFill>
              </a:rPr>
              <a:t>damping of the least-damped mode</a:t>
            </a:r>
            <a:endParaRPr lang="en-US" sz="1600" dirty="0"/>
          </a:p>
        </p:txBody>
      </p:sp>
      <p:sp>
        <p:nvSpPr>
          <p:cNvPr id="7" name="stat 1.8–2.5 s"/>
          <p:cNvSpPr txBox="1"/>
          <p:nvPr/>
        </p:nvSpPr>
        <p:spPr>
          <a:xfrm>
            <a:off x="8046720" y="1508760"/>
            <a:ext cx="3566160" cy="1005840"/>
          </a:xfrm>
          <a:prstGeom prst="rect">
            <a:avLst/>
          </a:prstGeom>
          <a:noFill/>
          <a:ln/>
        </p:spPr>
        <p:txBody>
          <a:bodyPr wrap="square" lIns="0" tIns="0" rIns="0" bIns="0" rtlCol="0" anchor="t"/>
          <a:lstStyle/>
          <a:p>
            <a:pPr indent="0" marL="0">
              <a:buNone/>
            </a:pPr>
            <a:r>
              <a:rPr lang="en-US" sz="3600" b="1" dirty="0">
                <a:solidFill>
                  <a:schemeClr val="tx2"/>
                </a:solidFill>
              </a:rPr>
              <a:t>1.8–2.5 s</a:t>
            </a:r>
            <a:endParaRPr lang="en-US" sz="1600" dirty="0"/>
          </a:p>
          <a:p>
            <a:pPr indent="0" marL="0">
              <a:buNone/>
            </a:pPr>
            <a:r>
              <a:rPr lang="en-US" sz="1300" dirty="0">
                <a:solidFill>
                  <a:schemeClr val="accent6"/>
                </a:solidFill>
              </a:rPr>
              <a:t>to settle altitude, tilt and yaw rate</a:t>
            </a:r>
            <a:endParaRPr lang="en-US" sz="1600" dirty="0"/>
          </a:p>
        </p:txBody>
      </p:sp>
      <p:pic>
        <p:nvPicPr>
          <p:cNvPr id="8" name="e3_failed_lqr_nonlinear.png" descr="Failure-mode LQR on the nonlinear model converging to the equilibrium">    </p:cNvPr>
          <p:cNvPicPr>
            <a:picLocks noChangeAspect="1"/>
          </p:cNvPicPr>
          <p:nvPr/>
        </p:nvPicPr>
        <p:blipFill>
          <a:blip r:embed="rId1"/>
          <a:stretch>
            <a:fillRect/>
          </a:stretch>
        </p:blipFill>
        <p:spPr>
          <a:xfrm>
            <a:off x="822960" y="2743200"/>
            <a:ext cx="10515600" cy="3102565"/>
          </a:xfrm>
          <a:prstGeom prst="rect">
            <a:avLst/>
          </a:prstGeom>
        </p:spPr>
      </p:pic>
      <p:sp>
        <p:nvSpPr>
          <p:cNvPr id="9" name="lqr source"/>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200" dirty="0">
                <a:solidFill>
                  <a:schemeClr val="accent6"/>
                </a:solidFill>
              </a:rPr>
              <a:t>Weights from Mueller &amp; D'Andrea, plus motor states and altitude</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10515600" cy="365760"/>
          </a:xfrm>
          <a:prstGeom prst="rect">
            <a:avLst/>
          </a:prstGeom>
          <a:noFill/>
          <a:ln/>
        </p:spPr>
        <p:txBody>
          <a:bodyPr wrap="square" lIns="0" tIns="0" rIns="0" bIns="0" rtlCol="0"/>
          <a:lstStyle/>
          <a:p>
            <a:pPr indent="0" marL="0">
              <a:buNone/>
            </a:pPr>
            <a:r>
              <a:rPr lang="en-US" sz="1400" b="1" spc="100" kern="0" dirty="0">
                <a:solidFill>
                  <a:schemeClr val="accent3"/>
                </a:solidFill>
              </a:rPr>
              <a:t>PART 1 · AS PROPOSED</a:t>
            </a:r>
            <a:endParaRPr lang="en-US" sz="1400" dirty="0"/>
          </a:p>
        </p:txBody>
      </p:sp>
      <p:sp>
        <p:nvSpPr>
          <p:cNvPr id="3" name="Text 0"/>
          <p:cNvSpPr/>
          <p:nvPr>
            <p:ph idx="101" type="title" hasCustomPrompt="1"/>
          </p:nvPr>
        </p:nvSpPr>
        <p:spPr>
          <a:xfrm>
            <a:off x="731520" y="22402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rPr>
              <a:t>Residual Koopman models of the failed vehicle</a:t>
            </a:r>
            <a:endParaRPr lang="en-US" sz="4000" dirty="0"/>
          </a:p>
        </p:txBody>
      </p:sp>
      <p:sp>
        <p:nvSpPr>
          <p:cNvPr id="4" name="Text 0"/>
          <p:cNvSpPr/>
          <p:nvPr>
            <p:ph idx="102" type="body" hasCustomPrompt="1"/>
          </p:nvPr>
        </p:nvSpPr>
        <p:spPr>
          <a:xfrm>
            <a:off x="731520" y="4069080"/>
            <a:ext cx="10515600" cy="914400"/>
          </a:xfrm>
          <a:prstGeom prst="rect">
            <a:avLst/>
          </a:prstGeom>
          <a:noFill/>
          <a:ln/>
        </p:spPr>
        <p:txBody>
          <a:bodyPr wrap="square" lIns="0" tIns="0" rIns="0" bIns="0" rtlCol="0" anchor="t"/>
          <a:lstStyle/>
          <a:p>
            <a:pPr indent="0" marL="0">
              <a:buNone/>
            </a:pPr>
            <a:r>
              <a:rPr lang="en-US" sz="2000" dirty="0">
                <a:solidFill>
                  <a:schemeClr val="accent3"/>
                </a:solidFill>
              </a:rPr>
              <a:t>Learn only what the physics model gets wrong, then use it inside a convex MPC.</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1"/>
                </a:solidFill>
              </a:rPr>
              <a:t>SET-UP</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Three predictors, same data</a:t>
            </a:r>
            <a:endParaRPr lang="en-US" sz="3000" dirty="0"/>
          </a:p>
        </p:txBody>
      </p:sp>
      <p:sp>
        <p:nvSpPr>
          <p:cNvPr id="5" name="predictor 1"/>
          <p:cNvSpPr txBox="1"/>
          <p:nvPr/>
        </p:nvSpPr>
        <p:spPr>
          <a:xfrm>
            <a:off x="548640" y="1600200"/>
            <a:ext cx="3520440" cy="2103120"/>
          </a:xfrm>
          <a:prstGeom prst="roundRect">
            <a:avLst>
              <a:gd name="adj" fmla="val 3478"/>
            </a:avLst>
          </a:prstGeom>
          <a:solidFill>
            <a:schemeClr val="bg2"/>
          </a:solidFill>
          <a:ln w="9525">
            <a:solidFill>
              <a:schemeClr val="bg2"/>
            </a:solidFill>
          </a:ln>
        </p:spPr>
        <p:txBody>
          <a:bodyPr wrap="square" lIns="152400" tIns="152400" rIns="152400" bIns="152400" rtlCol="0" anchor="t"/>
          <a:lstStyle/>
          <a:p>
            <a:pPr indent="0" marL="0">
              <a:buNone/>
            </a:pPr>
            <a:r>
              <a:rPr lang="en-US" sz="2000" b="1" dirty="0">
                <a:solidFill>
                  <a:schemeClr val="tx2"/>
                </a:solidFill>
              </a:rPr>
              <a:t>Analytical</a:t>
            </a:r>
            <a:endParaRPr lang="en-US" sz="1600" dirty="0"/>
          </a:p>
          <a:p>
            <a:pPr indent="0" marL="0">
              <a:spcBef>
                <a:spcPts val="800"/>
              </a:spcBef>
              <a:buNone/>
            </a:pPr>
            <a:r>
              <a:rPr lang="en-US" sz="1600" dirty="0">
                <a:solidFill>
                  <a:schemeClr val="tx1"/>
                </a:solidFill>
              </a:rPr>
              <a:t>Mueller &amp; D'Andrea linear model about the spinning equilibrium. No data.</a:t>
            </a:r>
            <a:endParaRPr lang="en-US" sz="1600" dirty="0"/>
          </a:p>
        </p:txBody>
      </p:sp>
      <p:sp>
        <p:nvSpPr>
          <p:cNvPr id="6" name="predictor 2"/>
          <p:cNvSpPr txBox="1"/>
          <p:nvPr/>
        </p:nvSpPr>
        <p:spPr>
          <a:xfrm>
            <a:off x="4297680" y="1600200"/>
            <a:ext cx="3520440" cy="2103120"/>
          </a:xfrm>
          <a:prstGeom prst="roundRect">
            <a:avLst>
              <a:gd name="adj" fmla="val 3478"/>
            </a:avLst>
          </a:prstGeom>
          <a:solidFill>
            <a:schemeClr val="bg2"/>
          </a:solidFill>
          <a:ln w="9525">
            <a:solidFill>
              <a:schemeClr val="bg2"/>
            </a:solidFill>
          </a:ln>
        </p:spPr>
        <p:txBody>
          <a:bodyPr wrap="square" lIns="152400" tIns="152400" rIns="152400" bIns="152400" rtlCol="0" anchor="t"/>
          <a:lstStyle/>
          <a:p>
            <a:pPr indent="0" marL="0">
              <a:buNone/>
            </a:pPr>
            <a:r>
              <a:rPr lang="en-US" sz="2000" b="1" dirty="0">
                <a:solidFill>
                  <a:schemeClr val="tx2"/>
                </a:solidFill>
              </a:rPr>
              <a:t>Full-state EDMDc</a:t>
            </a:r>
            <a:endParaRPr lang="en-US" sz="1600" dirty="0"/>
          </a:p>
          <a:p>
            <a:pPr indent="0" marL="0">
              <a:spcBef>
                <a:spcPts val="800"/>
              </a:spcBef>
              <a:buNone/>
            </a:pPr>
            <a:r>
              <a:rPr lang="en-US" sz="1600" dirty="0">
                <a:solidFill>
                  <a:schemeClr val="tx1"/>
                </a:solidFill>
              </a:rPr>
              <a:t>Learns all the dynamics from data: 55 lifted states (quadratic dictionary).</a:t>
            </a:r>
            <a:endParaRPr lang="en-US" sz="1600" dirty="0"/>
          </a:p>
        </p:txBody>
      </p:sp>
      <p:sp>
        <p:nvSpPr>
          <p:cNvPr id="7" name="predictor 3"/>
          <p:cNvSpPr txBox="1"/>
          <p:nvPr/>
        </p:nvSpPr>
        <p:spPr>
          <a:xfrm>
            <a:off x="8046720" y="1600200"/>
            <a:ext cx="3520440" cy="2103120"/>
          </a:xfrm>
          <a:prstGeom prst="roundRect">
            <a:avLst>
              <a:gd name="adj" fmla="val 3478"/>
            </a:avLst>
          </a:prstGeom>
          <a:solidFill>
            <a:schemeClr val="accent4"/>
          </a:solidFill>
          <a:ln w="19050">
            <a:solidFill>
              <a:schemeClr val="accent1"/>
            </a:solidFill>
          </a:ln>
        </p:spPr>
        <p:txBody>
          <a:bodyPr wrap="square" lIns="152400" tIns="152400" rIns="152400" bIns="152400" rtlCol="0" anchor="t"/>
          <a:lstStyle/>
          <a:p>
            <a:pPr indent="0" marL="0">
              <a:buNone/>
            </a:pPr>
            <a:r>
              <a:rPr lang="en-US" sz="2000" b="1" dirty="0">
                <a:solidFill>
                  <a:schemeClr val="tx2"/>
                </a:solidFill>
              </a:rPr>
              <a:t>Residual EDMDc (proposed)</a:t>
            </a:r>
            <a:endParaRPr lang="en-US" sz="1600" dirty="0"/>
          </a:p>
          <a:p>
            <a:pPr indent="0" marL="0">
              <a:spcBef>
                <a:spcPts val="800"/>
              </a:spcBef>
              <a:buNone/>
            </a:pPr>
            <a:r>
              <a:rPr lang="en-US" sz="1600" dirty="0">
                <a:solidFill>
                  <a:schemeClr val="tx1"/>
                </a:solidFill>
              </a:rPr>
              <a:t>Physics model plus a learned one-step correction e = x_true − x_model, clipped at d_max.</a:t>
            </a:r>
            <a:endParaRPr lang="en-US" sz="1600" dirty="0"/>
          </a:p>
        </p:txBody>
      </p:sp>
      <p:sp>
        <p:nvSpPr>
          <p:cNvPr id="8" name="data description"/>
          <p:cNvSpPr txBox="1"/>
          <p:nvPr/>
        </p:nvSpPr>
        <p:spPr>
          <a:xfrm>
            <a:off x="548640" y="4069080"/>
            <a:ext cx="11064240" cy="1097280"/>
          </a:xfrm>
          <a:prstGeom prst="rect">
            <a:avLst/>
          </a:prstGeom>
          <a:noFill/>
          <a:ln/>
        </p:spPr>
        <p:txBody>
          <a:bodyPr wrap="square" lIns="0" tIns="0" rIns="0" bIns="0" rtlCol="0" anchor="t"/>
          <a:lstStyle/>
          <a:p>
            <a:pPr indent="0" marL="0">
              <a:buNone/>
            </a:pPr>
            <a:r>
              <a:rPr lang="en-US" sz="1700" b="1" dirty="0">
                <a:solidFill>
                  <a:schemeClr val="tx1"/>
                </a:solidFill>
              </a:rPr>
              <a:t>Data: </a:t>
            </a:r>
            <a:pPr indent="0" marL="0">
              <a:buNone/>
            </a:pPr>
            <a:r>
              <a:rPr lang="en-US" sz="1700" dirty="0">
                <a:solidFill>
                  <a:schemeClr val="tx1"/>
                </a:solidFill>
              </a:rPr>
              <a:t>40 episodes × 4 s at 5 ms, from a truth plant with effects the model lacks (thrust loss at high spin, inertia error, slower motors). </a:t>
            </a:r>
            <a:pPr indent="0" marL="0">
              <a:buNone/>
            </a:pPr>
            <a:r>
              <a:rPr lang="en-US" sz="1700" b="1" dirty="0">
                <a:solidFill>
                  <a:schemeClr val="tx1"/>
                </a:solidFill>
              </a:rPr>
              <a:t>Test: </a:t>
            </a:r>
            <a:pPr indent="0" marL="0">
              <a:buNone/>
            </a:pPr>
            <a:r>
              <a:rPr lang="en-US" sz="1700" dirty="0">
                <a:solidFill>
                  <a:schemeClr val="tx1"/>
                </a:solidFill>
              </a:rPr>
              <a:t>10 new episodes from the same plant (A) and 10 from a different one (B).</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1"/>
                </a:solidFill>
              </a:rPr>
              <a:t>PREDICTION</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From 100 ms on, the residual model predicts best</a:t>
            </a:r>
            <a:endParaRPr lang="en-US" sz="3000" dirty="0"/>
          </a:p>
        </p:txBody>
      </p:sp>
      <p:pic>
        <p:nvPicPr>
          <p:cNvPr id="5" name="e6_multistep_error.png" descr="Multi-step prediction error versus horizon, four panels">    </p:cNvPr>
          <p:cNvPicPr>
            <a:picLocks noChangeAspect="1"/>
          </p:cNvPicPr>
          <p:nvPr/>
        </p:nvPicPr>
        <p:blipFill>
          <a:blip r:embed="rId1"/>
          <a:stretch>
            <a:fillRect/>
          </a:stretch>
        </p:blipFill>
        <p:spPr>
          <a:xfrm>
            <a:off x="548640" y="1463040"/>
            <a:ext cx="6949440" cy="4404395"/>
          </a:xfrm>
          <a:prstGeom prst="rect">
            <a:avLst/>
          </a:prstGeom>
        </p:spPr>
      </p:pic>
      <p:sp>
        <p:nvSpPr>
          <p:cNvPr id="6" name="table caption"/>
          <p:cNvSpPr txBox="1"/>
          <p:nvPr/>
        </p:nvSpPr>
        <p:spPr>
          <a:xfrm>
            <a:off x="7818120" y="1554480"/>
            <a:ext cx="3794760" cy="548640"/>
          </a:xfrm>
          <a:prstGeom prst="rect">
            <a:avLst/>
          </a:prstGeom>
          <a:noFill/>
          <a:ln/>
        </p:spPr>
        <p:txBody>
          <a:bodyPr wrap="square" lIns="0" tIns="0" rIns="0" bIns="0" rtlCol="0" anchor="t"/>
          <a:lstStyle/>
          <a:p>
            <a:pPr indent="0" marL="0">
              <a:buNone/>
            </a:pPr>
            <a:r>
              <a:rPr lang="en-US" sz="1500" dirty="0">
                <a:solidFill>
                  <a:schemeClr val="accent6"/>
                </a:solidFill>
              </a:rPr>
              <a:t>Error at a 1 s horizon, test family A (normalized RMSE):</a:t>
            </a:r>
            <a:endParaRPr lang="en-US" sz="1500" dirty="0"/>
          </a:p>
        </p:txBody>
      </p:sp>
      <p:graphicFrame>
        <p:nvGraphicFramePr>
          <p:cNvPr id="12" name="prediction table"/>
          <p:cNvGraphicFramePr>
            <a:graphicFrameLocks noGrp="1"/>
          </p:cNvGraphicFramePr>
          <p:nvPr>
            <p:extLst>
              <p:ext uri="{D42A27DB-BD31-4B8C-83A1-F6EECF244321}">
                <p14:modId xmlns:p14="http://schemas.microsoft.com/office/powerpoint/2010/main" val="1579011935"/>
              </p:ext>
            </p:extLst>
          </p:nvPr>
        </p:nvGraphicFramePr>
        <p:xfrm>
          <a:off x="7818120" y="2148840"/>
          <a:ext cx="3794760" cy="914400"/>
        </p:xfrm>
        <a:graphic>
          <a:graphicData uri="http://schemas.openxmlformats.org/drawingml/2006/table">
            <a:tbl>
              <a:tblPr/>
              <a:tblGrid>
                <a:gridCol w="2697480"/>
                <a:gridCol w="1097280"/>
              </a:tblGrid>
              <a:tr h="384048">
                <a:tc>
                  <a:txBody>
                    <a:bodyPr/>
                    <a:lstStyle/>
                    <a:p>
                      <a:pPr indent="0" marL="0">
                        <a:buNone/>
                      </a:pPr>
                      <a:r>
                        <a:rPr lang="en-US" sz="1400" b="1" dirty="0">
                          <a:solidFill>
                            <a:schemeClr val="tx1"/>
                          </a:solidFill>
                        </a:rPr>
                        <a:t>Predictor</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algn="r" indent="0" marL="0">
                        <a:buNone/>
                      </a:pPr>
                      <a:r>
                        <a:rPr lang="en-US" sz="1400" b="1" dirty="0">
                          <a:solidFill>
                            <a:schemeClr val="tx1"/>
                          </a:solidFill>
                        </a:rPr>
                        <a:t>Error</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r>
              <a:tr h="384048">
                <a:tc>
                  <a:txBody>
                    <a:bodyPr/>
                    <a:lstStyle/>
                    <a:p>
                      <a:pPr indent="0" marL="0">
                        <a:buNone/>
                      </a:pPr>
                      <a:r>
                        <a:rPr lang="en-US" sz="1400" b="1" dirty="0">
                          <a:solidFill>
                            <a:schemeClr val="tx1"/>
                          </a:solidFill>
                        </a:rPr>
                        <a:t>Residual EDMDc</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algn="r" indent="0" marL="0">
                        <a:buNone/>
                      </a:pPr>
                      <a:r>
                        <a:rPr lang="en-US" sz="1400" b="1" dirty="0">
                          <a:solidFill>
                            <a:schemeClr val="tx1"/>
                          </a:solidFill>
                        </a:rPr>
                        <a:t>0.64</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r>
              <a:tr h="384048">
                <a:tc>
                  <a:txBody>
                    <a:bodyPr/>
                    <a:lstStyle/>
                    <a:p>
                      <a:pPr indent="0" marL="0">
                        <a:buNone/>
                      </a:pPr>
                      <a:r>
                        <a:rPr lang="en-US" sz="1400" dirty="0">
                          <a:solidFill>
                            <a:schemeClr val="tx1"/>
                          </a:solidFill>
                        </a:rPr>
                        <a:t>Full-state EDMDc</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r" indent="0" marL="0">
                        <a:buNone/>
                      </a:pPr>
                      <a:r>
                        <a:rPr lang="en-US" sz="1400" dirty="0">
                          <a:solidFill>
                            <a:schemeClr val="tx1"/>
                          </a:solidFill>
                        </a:rPr>
                        <a:t>0.91</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84048">
                <a:tc>
                  <a:txBody>
                    <a:bodyPr/>
                    <a:lstStyle/>
                    <a:p>
                      <a:pPr indent="0" marL="0">
                        <a:buNone/>
                      </a:pPr>
                      <a:r>
                        <a:rPr lang="en-US" sz="1400" dirty="0">
                          <a:solidFill>
                            <a:schemeClr val="tx1"/>
                          </a:solidFill>
                        </a:rPr>
                        <a:t>"No change" baseline</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r" indent="0" marL="0">
                        <a:buNone/>
                      </a:pPr>
                      <a:r>
                        <a:rPr lang="en-US" sz="1400" dirty="0">
                          <a:solidFill>
                            <a:schemeClr val="tx1"/>
                          </a:solidFill>
                        </a:rPr>
                        <a:t>2.38</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84048">
                <a:tc>
                  <a:txBody>
                    <a:bodyPr/>
                    <a:lstStyle/>
                    <a:p>
                      <a:pPr indent="0" marL="0">
                        <a:buNone/>
                      </a:pPr>
                      <a:r>
                        <a:rPr lang="en-US" sz="1400" dirty="0">
                          <a:solidFill>
                            <a:schemeClr val="tx1"/>
                          </a:solidFill>
                        </a:rPr>
                        <a:t>Analytical model</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r" indent="0" marL="0">
                        <a:buNone/>
                      </a:pPr>
                      <a:r>
                        <a:rPr lang="en-US" sz="1400" dirty="0">
                          <a:solidFill>
                            <a:schemeClr val="tx1"/>
                          </a:solidFill>
                        </a:rPr>
                        <a:t>7.09</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bl>
          </a:graphicData>
        </a:graphic>
      </p:graphicFrame>
      <p:sp>
        <p:nvSpPr>
          <p:cNvPr id="8" name="prediction note"/>
          <p:cNvSpPr txBox="1"/>
          <p:nvPr/>
        </p:nvSpPr>
        <p:spPr>
          <a:xfrm>
            <a:off x="7818120" y="4297680"/>
            <a:ext cx="3794760" cy="1371600"/>
          </a:xfrm>
          <a:prstGeom prst="rect">
            <a:avLst/>
          </a:prstGeom>
          <a:noFill/>
          <a:ln/>
        </p:spPr>
        <p:txBody>
          <a:bodyPr wrap="square" lIns="0" tIns="0" rIns="0" bIns="0" rtlCol="0" anchor="t"/>
          <a:lstStyle/>
          <a:p>
            <a:pPr indent="0" marL="0">
              <a:buNone/>
            </a:pPr>
            <a:r>
              <a:rPr lang="en-US" sz="1500" dirty="0">
                <a:solidFill>
                  <a:schemeClr val="tx1"/>
                </a:solidFill>
              </a:rPr>
              <a:t>Below 100 ms the full-state model is slightly better. It has 4 of 55 eigenvalues outside the unit circle and falls behind "no change" by 2 s, as the proposal predicted.</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1"/>
                </a:solidFill>
              </a:rPr>
              <a:t>LIMITS</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Little data needed, no generalization yet</a:t>
            </a:r>
            <a:endParaRPr lang="en-US" sz="3000" dirty="0"/>
          </a:p>
        </p:txBody>
      </p:sp>
      <p:pic>
        <p:nvPicPr>
          <p:cNvPr id="5" name="e6_data_efficiency.png" descr="Prediction error at 0.5 s versus number of training episodes">    </p:cNvPr>
          <p:cNvPicPr>
            <a:picLocks noChangeAspect="1"/>
          </p:cNvPicPr>
          <p:nvPr/>
        </p:nvPicPr>
        <p:blipFill>
          <a:blip r:embed="rId1"/>
          <a:stretch>
            <a:fillRect/>
          </a:stretch>
        </p:blipFill>
        <p:spPr>
          <a:xfrm>
            <a:off x="548640" y="1508760"/>
            <a:ext cx="5852160" cy="3730885"/>
          </a:xfrm>
          <a:prstGeom prst="rect">
            <a:avLst/>
          </a:prstGeom>
        </p:spPr>
      </p:pic>
      <p:sp>
        <p:nvSpPr>
          <p:cNvPr id="6" name="limit 1"/>
          <p:cNvSpPr txBox="1"/>
          <p:nvPr/>
        </p:nvSpPr>
        <p:spPr>
          <a:xfrm>
            <a:off x="6766560" y="1554480"/>
            <a:ext cx="4846320" cy="1143000"/>
          </a:xfrm>
          <a:prstGeom prst="rect">
            <a:avLst/>
          </a:prstGeom>
          <a:noFill/>
          <a:ln/>
        </p:spPr>
        <p:txBody>
          <a:bodyPr wrap="square" lIns="0" tIns="0" rIns="0" bIns="0" rtlCol="0" anchor="t"/>
          <a:lstStyle/>
          <a:p>
            <a:pPr indent="0" marL="0">
              <a:buNone/>
            </a:pPr>
            <a:r>
              <a:rPr lang="en-US" sz="1800" b="1" dirty="0">
                <a:solidFill>
                  <a:schemeClr val="tx2"/>
                </a:solidFill>
              </a:rPr>
              <a:t>Data efficiency</a:t>
            </a:r>
            <a:endParaRPr lang="en-US" sz="1600" dirty="0"/>
          </a:p>
          <a:p>
            <a:pPr indent="0" marL="0">
              <a:spcBef>
                <a:spcPts val="400"/>
              </a:spcBef>
              <a:buNone/>
            </a:pPr>
            <a:r>
              <a:rPr lang="en-US" sz="1500" dirty="0">
                <a:solidFill>
                  <a:schemeClr val="tx1"/>
                </a:solidFill>
              </a:rPr>
              <a:t>With 10 episodes the residual model (0.42) beats the full-state model trained on 40 (0.48), at a 0.5 s horizon.</a:t>
            </a:r>
            <a:endParaRPr lang="en-US" sz="1600" dirty="0"/>
          </a:p>
        </p:txBody>
      </p:sp>
      <p:sp>
        <p:nvSpPr>
          <p:cNvPr id="7" name="limit 2"/>
          <p:cNvSpPr txBox="1"/>
          <p:nvPr/>
        </p:nvSpPr>
        <p:spPr>
          <a:xfrm>
            <a:off x="6766560" y="2834640"/>
            <a:ext cx="4846320" cy="1600200"/>
          </a:xfrm>
          <a:prstGeom prst="rect">
            <a:avLst/>
          </a:prstGeom>
          <a:noFill/>
          <a:ln/>
        </p:spPr>
        <p:txBody>
          <a:bodyPr wrap="square" lIns="0" tIns="0" rIns="0" bIns="0" rtlCol="0" anchor="t"/>
          <a:lstStyle/>
          <a:p>
            <a:pPr indent="0" marL="0">
              <a:buNone/>
            </a:pPr>
            <a:r>
              <a:rPr lang="en-US" sz="1800" b="1" dirty="0">
                <a:solidFill>
                  <a:schemeClr val="accent2"/>
                </a:solidFill>
              </a:rPr>
              <a:t>Generalization fails</a:t>
            </a:r>
            <a:endParaRPr lang="en-US" sz="1600" dirty="0"/>
          </a:p>
          <a:p>
            <a:pPr indent="0" marL="0">
              <a:spcBef>
                <a:spcPts val="400"/>
              </a:spcBef>
              <a:buNone/>
            </a:pPr>
            <a:r>
              <a:rPr lang="en-US" sz="1500" dirty="0">
                <a:solidFill>
                  <a:schemeClr val="tx1"/>
                </a:solidFill>
              </a:rPr>
              <a:t>On the unseen plant B, both learned models are worse than the physics model alone. Training on randomized plants helps on B only up to about 100 ms and hurts on A: the unknown parameters cannot be read from one state sample.</a:t>
            </a:r>
            <a:endParaRPr lang="en-US" sz="1600" dirty="0"/>
          </a:p>
        </p:txBody>
      </p:sp>
      <p:sp>
        <p:nvSpPr>
          <p:cNvPr id="8" name="limit 3"/>
          <p:cNvSpPr txBox="1"/>
          <p:nvPr/>
        </p:nvSpPr>
        <p:spPr>
          <a:xfrm>
            <a:off x="6766560" y="4617720"/>
            <a:ext cx="4846320" cy="1143000"/>
          </a:xfrm>
          <a:prstGeom prst="rect">
            <a:avLst/>
          </a:prstGeom>
          <a:noFill/>
          <a:ln/>
        </p:spPr>
        <p:txBody>
          <a:bodyPr wrap="square" lIns="0" tIns="0" rIns="0" bIns="0" rtlCol="0" anchor="t"/>
          <a:lstStyle/>
          <a:p>
            <a:pPr indent="0" marL="0">
              <a:buNone/>
            </a:pPr>
            <a:r>
              <a:rPr lang="en-US" sz="1800" b="1" dirty="0">
                <a:solidFill>
                  <a:schemeClr val="tx2"/>
                </a:solidFill>
              </a:rPr>
              <a:t>Next</a:t>
            </a:r>
            <a:endParaRPr lang="en-US" sz="1600" dirty="0"/>
          </a:p>
          <a:p>
            <a:pPr indent="0" marL="0">
              <a:spcBef>
                <a:spcPts val="400"/>
              </a:spcBef>
              <a:buNone/>
            </a:pPr>
            <a:r>
              <a:rPr lang="en-US" sz="1500" dirty="0">
                <a:solidFill>
                  <a:schemeClr val="tx1"/>
                </a:solidFill>
              </a:rPr>
              <a:t>Update the residual online with recursive least squares (it is linear in its parameters).</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1"/>
                </a:solidFill>
              </a:rPr>
              <a:t>CONTROL</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Residual MPC removes a third of the bias</a:t>
            </a:r>
            <a:endParaRPr lang="en-US" sz="3000" dirty="0"/>
          </a:p>
        </p:txBody>
      </p:sp>
      <p:pic>
        <p:nvPicPr>
          <p:cNvPr id="5" name="e7_altitude.png" descr="Altitude regulation under model mismatch for three controllers">    </p:cNvPr>
          <p:cNvPicPr>
            <a:picLocks noChangeAspect="1"/>
          </p:cNvPicPr>
          <p:nvPr/>
        </p:nvPicPr>
        <p:blipFill>
          <a:blip r:embed="rId1"/>
          <a:stretch>
            <a:fillRect/>
          </a:stretch>
        </p:blipFill>
        <p:spPr>
          <a:xfrm>
            <a:off x="548640" y="1554480"/>
            <a:ext cx="7589520" cy="2739277"/>
          </a:xfrm>
          <a:prstGeom prst="rect">
            <a:avLst/>
          </a:prstGeom>
        </p:spPr>
      </p:pic>
      <p:sp>
        <p:nvSpPr>
          <p:cNvPr id="6" name="stat −32%"/>
          <p:cNvSpPr txBox="1"/>
          <p:nvPr/>
        </p:nvSpPr>
        <p:spPr>
          <a:xfrm>
            <a:off x="8503920" y="1645920"/>
            <a:ext cx="3108960" cy="1005840"/>
          </a:xfrm>
          <a:prstGeom prst="rect">
            <a:avLst/>
          </a:prstGeom>
          <a:noFill/>
          <a:ln/>
        </p:spPr>
        <p:txBody>
          <a:bodyPr wrap="square" lIns="0" tIns="0" rIns="0" bIns="0" rtlCol="0" anchor="t"/>
          <a:lstStyle/>
          <a:p>
            <a:pPr indent="0" marL="0">
              <a:buNone/>
            </a:pPr>
            <a:r>
              <a:rPr lang="en-US" sz="3600" b="1" dirty="0">
                <a:solidFill>
                  <a:schemeClr val="tx2"/>
                </a:solidFill>
              </a:rPr>
              <a:t>−32%</a:t>
            </a:r>
            <a:endParaRPr lang="en-US" sz="1600" dirty="0"/>
          </a:p>
          <a:p>
            <a:pPr indent="0" marL="0">
              <a:buNone/>
            </a:pPr>
            <a:r>
              <a:rPr lang="en-US" sz="1300" dirty="0">
                <a:solidFill>
                  <a:schemeClr val="accent6"/>
                </a:solidFill>
              </a:rPr>
              <a:t>steady altitude error on plant A (−0.29 → −0.19 m)</a:t>
            </a:r>
            <a:endParaRPr lang="en-US" sz="1600" dirty="0"/>
          </a:p>
        </p:txBody>
      </p:sp>
      <p:sp>
        <p:nvSpPr>
          <p:cNvPr id="7" name="stat 0.7 ms"/>
          <p:cNvSpPr txBox="1"/>
          <p:nvPr/>
        </p:nvSpPr>
        <p:spPr>
          <a:xfrm>
            <a:off x="8503920" y="2926080"/>
            <a:ext cx="3108960" cy="1005840"/>
          </a:xfrm>
          <a:prstGeom prst="rect">
            <a:avLst/>
          </a:prstGeom>
          <a:noFill/>
          <a:ln/>
        </p:spPr>
        <p:txBody>
          <a:bodyPr wrap="square" lIns="0" tIns="0" rIns="0" bIns="0" rtlCol="0" anchor="t"/>
          <a:lstStyle/>
          <a:p>
            <a:pPr indent="0" marL="0">
              <a:buNone/>
            </a:pPr>
            <a:r>
              <a:rPr lang="en-US" sz="3600" b="1" dirty="0">
                <a:solidFill>
                  <a:schemeClr val="tx2"/>
                </a:solidFill>
              </a:rPr>
              <a:t>0.7 ms</a:t>
            </a:r>
            <a:endParaRPr lang="en-US" sz="1600" dirty="0"/>
          </a:p>
          <a:p>
            <a:pPr indent="0" marL="0">
              <a:buNone/>
            </a:pPr>
            <a:r>
              <a:rPr lang="en-US" sz="1300" dirty="0">
                <a:solidFill>
                  <a:schemeClr val="accent6"/>
                </a:solidFill>
              </a:rPr>
              <a:t>solver time per step (horizon 20 × 5 ms, OSQP)</a:t>
            </a:r>
            <a:endParaRPr lang="en-US" sz="1600" dirty="0"/>
          </a:p>
        </p:txBody>
      </p:sp>
      <p:sp>
        <p:nvSpPr>
          <p:cNvPr id="8" name="mpc note"/>
          <p:cNvSpPr txBox="1"/>
          <p:nvPr/>
        </p:nvSpPr>
        <p:spPr>
          <a:xfrm>
            <a:off x="548640" y="4572000"/>
            <a:ext cx="11064240" cy="1097280"/>
          </a:xfrm>
          <a:prstGeom prst="rect">
            <a:avLst/>
          </a:prstGeom>
          <a:noFill/>
          <a:ln/>
        </p:spPr>
        <p:txBody>
          <a:bodyPr wrap="square" lIns="0" tIns="0" rIns="0" bIns="0" rtlCol="0" anchor="t"/>
          <a:lstStyle/>
          <a:p>
            <a:pPr indent="0" marL="0">
              <a:buNone/>
            </a:pPr>
            <a:r>
              <a:rPr lang="en-US" sz="1600" dirty="0">
                <a:solidFill>
                  <a:schemeClr val="tx1"/>
                </a:solidFill>
              </a:rPr>
              <a:t>The residual enters the QP as a measured disturbance, so the problem stays convex (as in Todde et al. 2026). It helps for every mismatch effect of plant A, but on plant B without its thrust loss the error grows by 47%. After a detection delay, LQR is safe up to 10 ms and both MPCs only without delay.</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10515600" cy="365760"/>
          </a:xfrm>
          <a:prstGeom prst="rect">
            <a:avLst/>
          </a:prstGeom>
          <a:noFill/>
          <a:ln/>
        </p:spPr>
        <p:txBody>
          <a:bodyPr wrap="square" lIns="0" tIns="0" rIns="0" bIns="0" rtlCol="0"/>
          <a:lstStyle/>
          <a:p>
            <a:pPr indent="0" marL="0">
              <a:buNone/>
            </a:pPr>
            <a:r>
              <a:rPr lang="en-US" sz="1400" b="1" spc="100" kern="0" dirty="0">
                <a:solidFill>
                  <a:schemeClr val="accent5"/>
                </a:solidFill>
              </a:rPr>
              <a:t>PART 2 · ADDED AFTER THE PROPOSAL</a:t>
            </a:r>
            <a:endParaRPr lang="en-US" sz="1400" dirty="0"/>
          </a:p>
        </p:txBody>
      </p:sp>
      <p:sp>
        <p:nvSpPr>
          <p:cNvPr id="3" name="Text 0"/>
          <p:cNvSpPr/>
          <p:nvPr>
            <p:ph idx="101" type="title" hasCustomPrompt="1"/>
          </p:nvPr>
        </p:nvSpPr>
        <p:spPr>
          <a:xfrm>
            <a:off x="731520" y="22402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rPr>
              <a:t>How long can fault detection take?</a:t>
            </a:r>
            <a:endParaRPr lang="en-US" sz="4000" dirty="0"/>
          </a:p>
        </p:txBody>
      </p:sp>
      <p:sp>
        <p:nvSpPr>
          <p:cNvPr id="4" name="Text 0"/>
          <p:cNvSpPr/>
          <p:nvPr>
            <p:ph idx="102" type="body" hasCustomPrompt="1"/>
          </p:nvPr>
        </p:nvSpPr>
        <p:spPr>
          <a:xfrm>
            <a:off x="731520" y="4069080"/>
            <a:ext cx="10515600" cy="914400"/>
          </a:xfrm>
          <a:prstGeom prst="rect">
            <a:avLst/>
          </a:prstGeom>
          <a:noFill/>
          <a:ln/>
        </p:spPr>
        <p:txBody>
          <a:bodyPr wrap="square" lIns="0" tIns="0" rIns="0" bIns="0" rtlCol="0" anchor="t"/>
          <a:lstStyle/>
          <a:p>
            <a:pPr indent="0" marL="0">
              <a:buNone/>
            </a:pPr>
            <a:r>
              <a:rPr lang="en-US" sz="2000" dirty="0">
                <a:solidFill>
                  <a:schemeClr val="accent3"/>
                </a:solidFill>
              </a:rPr>
              <a:t>Most recovery methods assume instant detection. Fast detectors take 30–130 ms.</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2"/>
                </a:solidFill>
              </a:rPr>
              <a:t>WHY DELAY MATTERS</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Before detection, nothing stops the roll</a:t>
            </a:r>
            <a:endParaRPr lang="en-US" sz="3000" dirty="0"/>
          </a:p>
        </p:txBody>
      </p:sp>
      <p:pic>
        <p:nvPicPr>
          <p:cNvPr id="5" name="e4_undetected_phase.png" descr="Tilt during the undetected phase and thrust of rotor 2">    </p:cNvPr>
          <p:cNvPicPr>
            <a:picLocks noChangeAspect="1"/>
          </p:cNvPicPr>
          <p:nvPr/>
        </p:nvPicPr>
        <p:blipFill>
          <a:blip r:embed="rId1"/>
          <a:stretch>
            <a:fillRect/>
          </a:stretch>
        </p:blipFill>
        <p:spPr>
          <a:xfrm>
            <a:off x="1280160" y="1463040"/>
            <a:ext cx="9601200" cy="3538420"/>
          </a:xfrm>
          <a:prstGeom prst="rect">
            <a:avLst/>
          </a:prstGeom>
        </p:spPr>
      </p:pic>
      <p:sp>
        <p:nvSpPr>
          <p:cNvPr id="6" name="bound statement"/>
          <p:cNvSpPr txBox="1"/>
          <p:nvPr/>
        </p:nvSpPr>
        <p:spPr>
          <a:xfrm>
            <a:off x="548640" y="5120640"/>
            <a:ext cx="11064240" cy="822960"/>
          </a:xfrm>
          <a:prstGeom prst="rect">
            <a:avLst/>
          </a:prstGeom>
          <a:noFill/>
          <a:ln/>
        </p:spPr>
        <p:txBody>
          <a:bodyPr wrap="square" lIns="0" tIns="0" rIns="0" bIns="0" rtlCol="0" anchor="t"/>
          <a:lstStyle/>
          <a:p>
            <a:pPr indent="0" marL="0">
              <a:buNone/>
            </a:pPr>
            <a:r>
              <a:rPr lang="en-US" sz="1700" dirty="0">
                <a:solidFill>
                  <a:schemeClr val="tx1"/>
                </a:solidFill>
              </a:rPr>
              <a:t>Rotor 2 cannot go below its idle thrust (0.2 N), so the roll acceleration is at least </a:t>
            </a:r>
            <a:pPr indent="0" marL="0">
              <a:buNone/>
            </a:pPr>
            <a:r>
              <a:rPr lang="en-US" sz="1700" b="1" dirty="0">
                <a:solidFill>
                  <a:schemeClr val="tx1"/>
                </a:solidFill>
              </a:rPr>
              <a:t>l·f_min / I_xx = 10.6 rad/s²</a:t>
            </a:r>
            <a:pPr indent="0" marL="0">
              <a:buNone/>
            </a:pPr>
            <a:r>
              <a:rPr lang="en-US" sz="1700" dirty="0">
                <a:solidFill>
                  <a:schemeClr val="tx1"/>
                </a:solidFill>
              </a:rPr>
              <a:t> for any healthy-controller tuning. Tilt reaches about 13° at 100 ms and 37° at 200 ms.</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2"/>
                </a:solidFill>
              </a:rPr>
              <a:t>KEY RESULT</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Safe recovery is likely only below about 12 ms</a:t>
            </a:r>
            <a:endParaRPr lang="en-US" sz="3000" dirty="0"/>
          </a:p>
        </p:txBody>
      </p:sp>
      <p:pic>
        <p:nvPicPr>
          <p:cNvPr id="5" name="e4_p_safe.png" descr="Probability of a safe recovery versus detection delay for two spin-up thrusts, with 95% Wilson bands and the fast-detector range shaded">    </p:cNvPr>
          <p:cNvPicPr>
            <a:picLocks noChangeAspect="1"/>
          </p:cNvPicPr>
          <p:nvPr/>
        </p:nvPicPr>
        <p:blipFill>
          <a:blip r:embed="rId1"/>
          <a:stretch>
            <a:fillRect/>
          </a:stretch>
        </p:blipFill>
        <p:spPr>
          <a:xfrm>
            <a:off x="548640" y="1463040"/>
            <a:ext cx="7498080" cy="3479180"/>
          </a:xfrm>
          <a:prstGeom prst="rect">
            <a:avLst/>
          </a:prstGeom>
        </p:spPr>
      </p:pic>
      <p:sp>
        <p:nvSpPr>
          <p:cNvPr id="6" name="mc caption"/>
          <p:cNvSpPr txBox="1"/>
          <p:nvPr/>
        </p:nvSpPr>
        <p:spPr>
          <a:xfrm>
            <a:off x="8412480" y="1554480"/>
            <a:ext cx="3200400" cy="365760"/>
          </a:xfrm>
          <a:prstGeom prst="rect">
            <a:avLst/>
          </a:prstGeom>
          <a:noFill/>
          <a:ln/>
        </p:spPr>
        <p:txBody>
          <a:bodyPr wrap="square" lIns="0" tIns="0" rIns="0" bIns="0" rtlCol="0" anchor="t"/>
          <a:lstStyle/>
          <a:p>
            <a:pPr indent="0" marL="0">
              <a:buNone/>
            </a:pPr>
            <a:r>
              <a:rPr lang="en-US" sz="1500" dirty="0">
                <a:solidFill>
                  <a:schemeClr val="accent6"/>
                </a:solidFill>
              </a:rPr>
              <a:t>P(safe), 40 random starts per delay:</a:t>
            </a:r>
            <a:endParaRPr lang="en-US" sz="1500" dirty="0"/>
          </a:p>
        </p:txBody>
      </p:sp>
      <p:graphicFrame>
        <p:nvGraphicFramePr>
          <p:cNvPr id="17" name="monte carlo table"/>
          <p:cNvGraphicFramePr>
            <a:graphicFrameLocks noGrp="1"/>
          </p:cNvGraphicFramePr>
          <p:nvPr>
            <p:extLst>
              <p:ext uri="{D42A27DB-BD31-4B8C-83A1-F6EECF244321}">
                <p14:modId xmlns:p14="http://schemas.microsoft.com/office/powerpoint/2010/main" val="1579011935"/>
              </p:ext>
            </p:extLst>
          </p:nvPr>
        </p:nvGraphicFramePr>
        <p:xfrm>
          <a:off x="8412480" y="1965960"/>
          <a:ext cx="3200400" cy="914400"/>
        </p:xfrm>
        <a:graphic>
          <a:graphicData uri="http://schemas.openxmlformats.org/drawingml/2006/table">
            <a:tbl>
              <a:tblPr/>
              <a:tblGrid>
                <a:gridCol w="1188720"/>
                <a:gridCol w="1005840"/>
                <a:gridCol w="1005840"/>
              </a:tblGrid>
              <a:tr h="365760">
                <a:tc>
                  <a:txBody>
                    <a:bodyPr/>
                    <a:lstStyle/>
                    <a:p>
                      <a:pPr indent="0" marL="0">
                        <a:buNone/>
                      </a:pPr>
                      <a:r>
                        <a:rPr lang="en-US" sz="1400" b="1" dirty="0">
                          <a:solidFill>
                            <a:schemeClr val="tx1"/>
                          </a:solidFill>
                        </a:rPr>
                        <a:t>Delay</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algn="r" indent="0" marL="0">
                        <a:buNone/>
                      </a:pPr>
                      <a:r>
                        <a:rPr lang="en-US" sz="1400" b="1" dirty="0">
                          <a:solidFill>
                            <a:schemeClr val="tx1"/>
                          </a:solidFill>
                        </a:rPr>
                        <a:t>2.95 N</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algn="r" indent="0" marL="0">
                        <a:buNone/>
                      </a:pPr>
                      <a:r>
                        <a:rPr lang="en-US" sz="1400" b="1" dirty="0">
                          <a:solidFill>
                            <a:schemeClr val="tx1"/>
                          </a:solidFill>
                        </a:rPr>
                        <a:t>2.45 N</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r>
              <a:tr h="365760">
                <a:tc>
                  <a:txBody>
                    <a:bodyPr/>
                    <a:lstStyle/>
                    <a:p>
                      <a:pPr indent="0" marL="0">
                        <a:buNone/>
                      </a:pPr>
                      <a:r>
                        <a:rPr lang="en-US" sz="1400" dirty="0">
                          <a:solidFill>
                            <a:schemeClr val="tx1"/>
                          </a:solidFill>
                        </a:rPr>
                        <a:t>0 ms</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r" indent="0" marL="0">
                        <a:buNone/>
                      </a:pPr>
                      <a:r>
                        <a:rPr lang="en-US" sz="1400" dirty="0">
                          <a:solidFill>
                            <a:schemeClr val="tx1"/>
                          </a:solidFill>
                        </a:rPr>
                        <a:t>1.00</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r" indent="0" marL="0">
                        <a:buNone/>
                      </a:pPr>
                      <a:r>
                        <a:rPr lang="en-US" sz="1400" dirty="0">
                          <a:solidFill>
                            <a:schemeClr val="tx1"/>
                          </a:solidFill>
                        </a:rPr>
                        <a:t>1.00</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65760">
                <a:tc>
                  <a:txBody>
                    <a:bodyPr/>
                    <a:lstStyle/>
                    <a:p>
                      <a:pPr indent="0" marL="0">
                        <a:buNone/>
                      </a:pPr>
                      <a:r>
                        <a:rPr lang="en-US" sz="1400" dirty="0">
                          <a:solidFill>
                            <a:schemeClr val="tx1"/>
                          </a:solidFill>
                        </a:rPr>
                        <a:t>10 ms</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r" indent="0" marL="0">
                        <a:buNone/>
                      </a:pPr>
                      <a:r>
                        <a:rPr lang="en-US" sz="1400" dirty="0">
                          <a:solidFill>
                            <a:schemeClr val="tx1"/>
                          </a:solidFill>
                        </a:rPr>
                        <a:t>0.97</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r" indent="0" marL="0">
                        <a:buNone/>
                      </a:pPr>
                      <a:r>
                        <a:rPr lang="en-US" sz="1400" dirty="0">
                          <a:solidFill>
                            <a:schemeClr val="tx1"/>
                          </a:solidFill>
                        </a:rPr>
                        <a:t>0.82</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65760">
                <a:tc>
                  <a:txBody>
                    <a:bodyPr/>
                    <a:lstStyle/>
                    <a:p>
                      <a:pPr indent="0" marL="0">
                        <a:buNone/>
                      </a:pPr>
                      <a:r>
                        <a:rPr lang="en-US" sz="1400" dirty="0">
                          <a:solidFill>
                            <a:schemeClr val="tx1"/>
                          </a:solidFill>
                        </a:rPr>
                        <a:t>15 ms</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r" indent="0" marL="0">
                        <a:buNone/>
                      </a:pPr>
                      <a:r>
                        <a:rPr lang="en-US" sz="1400" dirty="0">
                          <a:solidFill>
                            <a:schemeClr val="tx1"/>
                          </a:solidFill>
                        </a:rPr>
                        <a:t>0.80</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r" indent="0" marL="0">
                        <a:buNone/>
                      </a:pPr>
                      <a:r>
                        <a:rPr lang="en-US" sz="1400" dirty="0">
                          <a:solidFill>
                            <a:schemeClr val="tx1"/>
                          </a:solidFill>
                        </a:rPr>
                        <a:t>0.45</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65760">
                <a:tc>
                  <a:txBody>
                    <a:bodyPr/>
                    <a:lstStyle/>
                    <a:p>
                      <a:pPr indent="0" marL="0">
                        <a:buNone/>
                      </a:pPr>
                      <a:r>
                        <a:rPr lang="en-US" sz="1400" dirty="0">
                          <a:solidFill>
                            <a:schemeClr val="tx1"/>
                          </a:solidFill>
                        </a:rPr>
                        <a:t>20 ms</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r" indent="0" marL="0">
                        <a:buNone/>
                      </a:pPr>
                      <a:r>
                        <a:rPr lang="en-US" sz="1400" dirty="0">
                          <a:solidFill>
                            <a:schemeClr val="tx1"/>
                          </a:solidFill>
                        </a:rPr>
                        <a:t>0.42</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r" indent="0" marL="0">
                        <a:buNone/>
                      </a:pPr>
                      <a:r>
                        <a:rPr lang="en-US" sz="1400" dirty="0">
                          <a:solidFill>
                            <a:schemeClr val="tx1"/>
                          </a:solidFill>
                        </a:rPr>
                        <a:t>0.28</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65760">
                <a:tc>
                  <a:txBody>
                    <a:bodyPr/>
                    <a:lstStyle/>
                    <a:p>
                      <a:pPr indent="0" marL="0">
                        <a:buNone/>
                      </a:pPr>
                      <a:r>
                        <a:rPr lang="en-US" sz="1400" dirty="0">
                          <a:solidFill>
                            <a:schemeClr val="tx1"/>
                          </a:solidFill>
                        </a:rPr>
                        <a:t>30 ms</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5"/>
                    </a:solidFill>
                  </a:tcPr>
                </a:tc>
                <a:tc>
                  <a:txBody>
                    <a:bodyPr/>
                    <a:lstStyle/>
                    <a:p>
                      <a:pPr algn="r" indent="0" marL="0">
                        <a:buNone/>
                      </a:pPr>
                      <a:r>
                        <a:rPr lang="en-US" sz="1400" b="1" dirty="0">
                          <a:solidFill>
                            <a:schemeClr val="tx1"/>
                          </a:solidFill>
                        </a:rPr>
                        <a:t>0.17</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5"/>
                    </a:solidFill>
                  </a:tcPr>
                </a:tc>
                <a:tc>
                  <a:txBody>
                    <a:bodyPr/>
                    <a:lstStyle/>
                    <a:p>
                      <a:pPr algn="r" indent="0" marL="0">
                        <a:buNone/>
                      </a:pPr>
                      <a:r>
                        <a:rPr lang="en-US" sz="1400" b="1" dirty="0">
                          <a:solidFill>
                            <a:schemeClr val="tx1"/>
                          </a:solidFill>
                        </a:rPr>
                        <a:t>0.07</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5"/>
                    </a:solidFill>
                  </a:tcPr>
                </a:tc>
              </a:tr>
            </a:tbl>
          </a:graphicData>
        </a:graphic>
      </p:graphicFrame>
      <p:sp>
        <p:nvSpPr>
          <p:cNvPr id="8" name="thrust note"/>
          <p:cNvSpPr txBox="1"/>
          <p:nvPr/>
        </p:nvSpPr>
        <p:spPr>
          <a:xfrm>
            <a:off x="8412480" y="4297680"/>
            <a:ext cx="3200400" cy="640080"/>
          </a:xfrm>
          <a:prstGeom prst="rect">
            <a:avLst/>
          </a:prstGeom>
          <a:noFill/>
          <a:ln/>
        </p:spPr>
        <p:txBody>
          <a:bodyPr wrap="square" lIns="0" tIns="0" rIns="0" bIns="0" rtlCol="0" anchor="t"/>
          <a:lstStyle/>
          <a:p>
            <a:pPr indent="0" marL="0">
              <a:buNone/>
            </a:pPr>
            <a:r>
              <a:rPr lang="en-US" sz="1300" dirty="0">
                <a:solidFill>
                  <a:schemeClr val="accent6"/>
                </a:solidFill>
              </a:rPr>
              <a:t>2.95 N: flight spin-up thrust (Fig. 4 of the paper); 2.45 N = mg/2.</a:t>
            </a:r>
            <a:endParaRPr lang="en-US" sz="1300" dirty="0"/>
          </a:p>
        </p:txBody>
      </p:sp>
      <p:sp>
        <p:nvSpPr>
          <p:cNvPr id="9" name="delay note"/>
          <p:cNvSpPr txBox="1"/>
          <p:nvPr/>
        </p:nvSpPr>
        <p:spPr>
          <a:xfrm>
            <a:off x="548640" y="5074920"/>
            <a:ext cx="11064240" cy="1097280"/>
          </a:xfrm>
          <a:prstGeom prst="rect">
            <a:avLst/>
          </a:prstGeom>
          <a:noFill/>
          <a:ln/>
        </p:spPr>
        <p:txBody>
          <a:bodyPr wrap="square" lIns="0" tIns="0" rIns="0" bIns="0" rtlCol="0" anchor="t"/>
          <a:lstStyle/>
          <a:p>
            <a:pPr indent="0" marL="0">
              <a:buNone/>
            </a:pPr>
            <a:r>
              <a:rPr lang="en-US" sz="1500" dirty="0">
                <a:solidFill>
                  <a:schemeClr val="tx1"/>
                </a:solidFill>
              </a:rPr>
              <a:t>Safe = attitude recovered, altitude loss under 2 m, never upside down (fixed before the runs). With no delay the vehicle climbs 0.40 m and loses only 0.03 m, like the flight. P(safe) falls below 0.5 at 19 ms (14 ms at mg/2); for attitude capture alone, at 52 ms. Fast detectors need 30–130 ms.</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2"/>
                </a:solidFill>
              </a:rPr>
              <a:t>FIRST CERTIFICATE</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A first LMI certificate, and its limit</a:t>
            </a:r>
            <a:endParaRPr lang="en-US" sz="3000" dirty="0"/>
          </a:p>
        </p:txBody>
      </p:sp>
      <p:pic>
        <p:nvPicPr>
          <p:cNvPr id="5" name="e5_certificate_slice.png" descr="Certified ellipse slice versus nonlinear simulation grid">    </p:cNvPr>
          <p:cNvPicPr>
            <a:picLocks noChangeAspect="1"/>
          </p:cNvPicPr>
          <p:nvPr/>
        </p:nvPicPr>
        <p:blipFill>
          <a:blip r:embed="rId1"/>
          <a:stretch>
            <a:fillRect/>
          </a:stretch>
        </p:blipFill>
        <p:spPr>
          <a:xfrm>
            <a:off x="548640" y="1463040"/>
            <a:ext cx="6217920" cy="3952068"/>
          </a:xfrm>
          <a:prstGeom prst="rect">
            <a:avLst/>
          </a:prstGeom>
        </p:spPr>
      </p:pic>
      <p:sp>
        <p:nvSpPr>
          <p:cNvPr id="6" name="certificate intro"/>
          <p:cNvSpPr txBox="1"/>
          <p:nvPr/>
        </p:nvSpPr>
        <p:spPr>
          <a:xfrm>
            <a:off x="7132320" y="1554480"/>
            <a:ext cx="4480560" cy="914400"/>
          </a:xfrm>
          <a:prstGeom prst="rect">
            <a:avLst/>
          </a:prstGeom>
          <a:noFill/>
          <a:ln/>
        </p:spPr>
        <p:txBody>
          <a:bodyPr wrap="square" lIns="0" tIns="0" rIns="0" bIns="0" rtlCol="0" anchor="t"/>
          <a:lstStyle/>
          <a:p>
            <a:pPr indent="0" marL="0">
              <a:buNone/>
            </a:pPr>
            <a:r>
              <a:rPr lang="en-US" sz="1500" dirty="0">
                <a:solidFill>
                  <a:schemeClr val="tx1"/>
                </a:solidFill>
              </a:rPr>
              <a:t>Saturation-aware invariant ellipsoid (Hu–Lin LMIs) for the LQR on the linear model at the spinning equilibrium.</a:t>
            </a:r>
            <a:endParaRPr lang="en-US" sz="1500" dirty="0"/>
          </a:p>
        </p:txBody>
      </p:sp>
      <p:sp>
        <p:nvSpPr>
          <p:cNvPr id="7" name="stat 22%"/>
          <p:cNvSpPr txBox="1"/>
          <p:nvPr/>
        </p:nvSpPr>
        <p:spPr>
          <a:xfrm>
            <a:off x="7132320" y="2606040"/>
            <a:ext cx="2148840" cy="1005840"/>
          </a:xfrm>
          <a:prstGeom prst="rect">
            <a:avLst/>
          </a:prstGeom>
          <a:noFill/>
          <a:ln/>
        </p:spPr>
        <p:txBody>
          <a:bodyPr wrap="square" lIns="0" tIns="0" rIns="0" bIns="0" rtlCol="0" anchor="t"/>
          <a:lstStyle/>
          <a:p>
            <a:pPr indent="0" marL="0">
              <a:buNone/>
            </a:pPr>
            <a:r>
              <a:rPr lang="en-US" sz="3600" b="1" dirty="0">
                <a:solidFill>
                  <a:schemeClr val="tx2"/>
                </a:solidFill>
              </a:rPr>
              <a:t>22%</a:t>
            </a:r>
            <a:endParaRPr lang="en-US" sz="1600" dirty="0"/>
          </a:p>
          <a:p>
            <a:pPr indent="0" marL="0">
              <a:buNone/>
            </a:pPr>
            <a:r>
              <a:rPr lang="en-US" sz="1300" dirty="0">
                <a:solidFill>
                  <a:schemeClr val="accent6"/>
                </a:solidFill>
              </a:rPr>
              <a:t>of the way to hover onset, certified</a:t>
            </a:r>
            <a:endParaRPr lang="en-US" sz="1600" dirty="0"/>
          </a:p>
        </p:txBody>
      </p:sp>
      <p:sp>
        <p:nvSpPr>
          <p:cNvPr id="8" name="stat 70%"/>
          <p:cNvSpPr txBox="1"/>
          <p:nvPr/>
        </p:nvSpPr>
        <p:spPr>
          <a:xfrm>
            <a:off x="9464040" y="2606040"/>
            <a:ext cx="2148840" cy="1005840"/>
          </a:xfrm>
          <a:prstGeom prst="rect">
            <a:avLst/>
          </a:prstGeom>
          <a:noFill/>
          <a:ln/>
        </p:spPr>
        <p:txBody>
          <a:bodyPr wrap="square" lIns="0" tIns="0" rIns="0" bIns="0" rtlCol="0" anchor="t"/>
          <a:lstStyle/>
          <a:p>
            <a:pPr indent="0" marL="0">
              <a:buNone/>
            </a:pPr>
            <a:r>
              <a:rPr lang="en-US" sz="3600" b="1" dirty="0">
                <a:solidFill>
                  <a:schemeClr val="accent2"/>
                </a:solidFill>
              </a:rPr>
              <a:t>70%</a:t>
            </a:r>
            <a:endParaRPr lang="en-US" sz="1600" dirty="0"/>
          </a:p>
          <a:p>
            <a:pPr indent="0" marL="0">
              <a:buNone/>
            </a:pPr>
            <a:r>
              <a:rPr lang="en-US" sz="1300" dirty="0">
                <a:solidFill>
                  <a:schemeClr val="accent6"/>
                </a:solidFill>
              </a:rPr>
              <a:t>recovers in simulation</a:t>
            </a:r>
            <a:endParaRPr lang="en-US" sz="1600" dirty="0"/>
          </a:p>
        </p:txBody>
      </p:sp>
      <p:sp>
        <p:nvSpPr>
          <p:cNvPr id="9" name="certificate note"/>
          <p:cNvSpPr txBox="1"/>
          <p:nvPr/>
        </p:nvSpPr>
        <p:spPr>
          <a:xfrm>
            <a:off x="7132320" y="3886200"/>
            <a:ext cx="4480560" cy="1737360"/>
          </a:xfrm>
          <a:prstGeom prst="rect">
            <a:avLst/>
          </a:prstGeom>
          <a:noFill/>
          <a:ln/>
        </p:spPr>
        <p:txBody>
          <a:bodyPr wrap="square" lIns="0" tIns="0" rIns="0" bIns="0" rtlCol="0" anchor="t"/>
          <a:lstStyle/>
          <a:p>
            <a:pPr indent="0" marL="0">
              <a:buNone/>
            </a:pPr>
            <a:r>
              <a:rPr lang="en-US" sz="1500" dirty="0">
                <a:solidFill>
                  <a:schemeClr val="tx1"/>
                </a:solidFill>
              </a:rPr>
              <a:t>The LQR fails only at spin rates of 4.8 rad/s or less, which is where the hover-onset state lies. Next: a certificate valid over the whole spin-up, treating the yaw rate r as a varying parameter (LPV).</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1"/>
                </a:solidFill>
              </a:rPr>
              <a:t>NEXT STEPS</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Plan for the remaining weeks</a:t>
            </a:r>
            <a:endParaRPr lang="en-US" sz="3000" dirty="0"/>
          </a:p>
        </p:txBody>
      </p:sp>
      <p:graphicFrame>
        <p:nvGraphicFramePr>
          <p:cNvPr id="19" name="plan table"/>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1463040"/>
                <a:gridCol w="4800600"/>
                <a:gridCol w="4800600"/>
              </a:tblGrid>
              <a:tr h="566928">
                <a:tc>
                  <a:txBody>
                    <a:bodyPr/>
                    <a:lstStyle/>
                    <a:p>
                      <a:pPr indent="0" marL="0">
                        <a:buNone/>
                      </a:pPr>
                      <a:r>
                        <a:rPr lang="en-US" sz="1400" b="1" dirty="0">
                          <a:solidFill>
                            <a:schemeClr val="tx1"/>
                          </a:solidFill>
                        </a:rPr>
                        <a:t>Dates</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tx1"/>
                          </a:solidFill>
                        </a:rPr>
                        <a:t>Learning the mismatch</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tx1"/>
                          </a:solidFill>
                        </a:rPr>
                        <a:t>Detection-delay budget</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r>
              <a:tr h="566928">
                <a:tc>
                  <a:txBody>
                    <a:bodyPr/>
                    <a:lstStyle/>
                    <a:p>
                      <a:pPr indent="0" marL="0">
                        <a:buNone/>
                      </a:pPr>
                      <a:r>
                        <a:rPr lang="en-US" sz="1400" dirty="0">
                          <a:solidFill>
                            <a:schemeClr val="tx1"/>
                          </a:solidFill>
                        </a:rPr>
                        <a:t>12–18 Oct</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MPC on the full-state Koopman model; integral-action MPC baseline</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Read the remaining key papers; certificate over the spin-up (LPV in r)</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566928">
                <a:tc>
                  <a:txBody>
                    <a:bodyPr/>
                    <a:lstStyle/>
                    <a:p>
                      <a:pPr indent="0" marL="0">
                        <a:buNone/>
                      </a:pPr>
                      <a:r>
                        <a:rPr lang="en-US" sz="1400" dirty="0">
                          <a:solidFill>
                            <a:schemeClr val="tx1"/>
                          </a:solidFill>
                        </a:rPr>
                        <a:t>19–25 Oct</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Online residual adaptation (recursive least squares)</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Reachable set of the undetected phase; first certified delay budget τ*</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566928">
                <a:tc>
                  <a:txBody>
                    <a:bodyPr/>
                    <a:lstStyle/>
                    <a:p>
                      <a:pPr indent="0" marL="0">
                        <a:buNone/>
                      </a:pPr>
                      <a:r>
                        <a:rPr lang="en-US" sz="1400" dirty="0">
                          <a:solidFill>
                            <a:schemeClr val="tx1"/>
                          </a:solidFill>
                        </a:rPr>
                        <a:t>26–31 Oct</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Air-relative thrust in the truth plant</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Sensitivity of τ* to spin-up thrust, idle thrust and motor lag; presentation 31 Oct</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566928">
                <a:tc>
                  <a:txBody>
                    <a:bodyPr/>
                    <a:lstStyle/>
                    <a:p>
                      <a:pPr indent="0" marL="0">
                        <a:buNone/>
                      </a:pPr>
                      <a:r>
                        <a:rPr lang="en-US" sz="1400" dirty="0">
                          <a:solidFill>
                            <a:schemeClr val="tx1"/>
                          </a:solidFill>
                        </a:rPr>
                        <a:t>1–13 Nov</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Certificate for the residual-Koopman loop if time allows</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Final simulations; journal-style report due 13 Nov</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bl>
          </a:graphicData>
        </a:graphic>
      </p:graphicFrame>
      <p:sp>
        <p:nvSpPr>
          <p:cNvPr id="6" name="risk"/>
          <p:cNvSpPr txBox="1"/>
          <p:nvPr/>
        </p:nvSpPr>
        <p:spPr>
          <a:xfrm>
            <a:off x="548640" y="4892040"/>
            <a:ext cx="11064240" cy="822960"/>
          </a:xfrm>
          <a:prstGeom prst="rect">
            <a:avLst/>
          </a:prstGeom>
          <a:noFill/>
          <a:ln/>
        </p:spPr>
        <p:txBody>
          <a:bodyPr wrap="square" lIns="0" tIns="0" rIns="0" bIns="0" rtlCol="0" anchor="t"/>
          <a:lstStyle/>
          <a:p>
            <a:pPr indent="0" marL="0">
              <a:buNone/>
            </a:pPr>
            <a:r>
              <a:rPr lang="en-US" sz="1600" b="1" dirty="0">
                <a:solidFill>
                  <a:schemeClr val="tx1"/>
                </a:solidFill>
              </a:rPr>
              <a:t>Main risk: </a:t>
            </a:r>
            <a:pPr indent="0" marL="0">
              <a:buNone/>
            </a:pPr>
            <a:r>
              <a:rPr lang="en-US" sz="1600" dirty="0">
                <a:solidFill>
                  <a:schemeClr val="tx1"/>
                </a:solidFill>
              </a:rPr>
              <a:t>a certificate over the whole spin-up may be infeasible or too conservative. Fallbacks: a parameter-dependent Lyapunov function, or a chain of nested ellipsoids.</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3"/>
                </a:solidFill>
              </a:rPr>
              <a:t>SUMMARY</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bg1"/>
                </a:solidFill>
              </a:rPr>
              <a:t>Where we stand</a:t>
            </a:r>
            <a:endParaRPr lang="en-US" sz="3000" dirty="0"/>
          </a:p>
        </p:txBody>
      </p:sp>
      <p:sp>
        <p:nvSpPr>
          <p:cNvPr id="4" name="num 1"/>
          <p:cNvSpPr txBox="1"/>
          <p:nvPr/>
        </p:nvSpPr>
        <p:spPr>
          <a:xfrm>
            <a:off x="548640" y="1737360"/>
            <a:ext cx="548640" cy="822960"/>
          </a:xfrm>
          <a:prstGeom prst="rect">
            <a:avLst/>
          </a:prstGeom>
          <a:noFill/>
          <a:ln/>
        </p:spPr>
        <p:txBody>
          <a:bodyPr wrap="square" lIns="0" tIns="0" rIns="0" bIns="0" rtlCol="0" anchor="t"/>
          <a:lstStyle/>
          <a:p>
            <a:pPr indent="0" marL="0">
              <a:buNone/>
            </a:pPr>
            <a:r>
              <a:rPr lang="en-US" sz="3600" b="1" dirty="0">
                <a:solidFill>
                  <a:schemeClr val="accent3"/>
                </a:solidFill>
              </a:rPr>
              <a:t>1</a:t>
            </a:r>
            <a:endParaRPr lang="en-US" sz="3600" dirty="0"/>
          </a:p>
        </p:txBody>
      </p:sp>
      <p:sp>
        <p:nvSpPr>
          <p:cNvPr id="5" name="takeaway 1"/>
          <p:cNvSpPr txBox="1"/>
          <p:nvPr/>
        </p:nvSpPr>
        <p:spPr>
          <a:xfrm>
            <a:off x="1280160" y="1783080"/>
            <a:ext cx="10332720" cy="1005840"/>
          </a:xfrm>
          <a:prstGeom prst="rect">
            <a:avLst/>
          </a:prstGeom>
          <a:noFill/>
          <a:ln/>
        </p:spPr>
        <p:txBody>
          <a:bodyPr wrap="square" lIns="0" tIns="0" rIns="0" bIns="0" rtlCol="0" anchor="t"/>
          <a:lstStyle/>
          <a:p>
            <a:pPr indent="0" marL="0">
              <a:buNone/>
            </a:pPr>
            <a:r>
              <a:rPr lang="en-US" sz="1900" dirty="0">
                <a:solidFill>
                  <a:schemeClr val="bg1"/>
                </a:solidFill>
              </a:rPr>
              <a:t>The simulator matches three published papers and the flight spin-up time within 4%.</a:t>
            </a:r>
            <a:endParaRPr lang="en-US" sz="1900" dirty="0"/>
          </a:p>
        </p:txBody>
      </p:sp>
      <p:sp>
        <p:nvSpPr>
          <p:cNvPr id="6" name="num 2"/>
          <p:cNvSpPr txBox="1"/>
          <p:nvPr/>
        </p:nvSpPr>
        <p:spPr>
          <a:xfrm>
            <a:off x="548640" y="2971800"/>
            <a:ext cx="548640" cy="822960"/>
          </a:xfrm>
          <a:prstGeom prst="rect">
            <a:avLst/>
          </a:prstGeom>
          <a:noFill/>
          <a:ln/>
        </p:spPr>
        <p:txBody>
          <a:bodyPr wrap="square" lIns="0" tIns="0" rIns="0" bIns="0" rtlCol="0" anchor="t"/>
          <a:lstStyle/>
          <a:p>
            <a:pPr indent="0" marL="0">
              <a:buNone/>
            </a:pPr>
            <a:r>
              <a:rPr lang="en-US" sz="3600" b="1" dirty="0">
                <a:solidFill>
                  <a:schemeClr val="accent3"/>
                </a:solidFill>
              </a:rPr>
              <a:t>2</a:t>
            </a:r>
            <a:endParaRPr lang="en-US" sz="3600" dirty="0"/>
          </a:p>
        </p:txBody>
      </p:sp>
      <p:sp>
        <p:nvSpPr>
          <p:cNvPr id="7" name="takeaway 2"/>
          <p:cNvSpPr txBox="1"/>
          <p:nvPr/>
        </p:nvSpPr>
        <p:spPr>
          <a:xfrm>
            <a:off x="1280160" y="3017520"/>
            <a:ext cx="10332720" cy="1005840"/>
          </a:xfrm>
          <a:prstGeom prst="rect">
            <a:avLst/>
          </a:prstGeom>
          <a:noFill/>
          <a:ln/>
        </p:spPr>
        <p:txBody>
          <a:bodyPr wrap="square" lIns="0" tIns="0" rIns="0" bIns="0" rtlCol="0" anchor="t"/>
          <a:lstStyle/>
          <a:p>
            <a:pPr indent="0" marL="0">
              <a:buNone/>
            </a:pPr>
            <a:r>
              <a:rPr lang="en-US" sz="1900" dirty="0">
                <a:solidFill>
                  <a:schemeClr val="bg1"/>
                </a:solidFill>
              </a:rPr>
              <a:t>The residual Koopman model predicts best from 100 ms on, needs less data and cuts the MPC altitude bias by a third, but does not yet generalize to an unseen vehicle.</a:t>
            </a:r>
            <a:endParaRPr lang="en-US" sz="1900" dirty="0"/>
          </a:p>
        </p:txBody>
      </p:sp>
      <p:sp>
        <p:nvSpPr>
          <p:cNvPr id="8" name="num 3"/>
          <p:cNvSpPr txBox="1"/>
          <p:nvPr/>
        </p:nvSpPr>
        <p:spPr>
          <a:xfrm>
            <a:off x="548640" y="4206240"/>
            <a:ext cx="548640" cy="822960"/>
          </a:xfrm>
          <a:prstGeom prst="rect">
            <a:avLst/>
          </a:prstGeom>
          <a:noFill/>
          <a:ln/>
        </p:spPr>
        <p:txBody>
          <a:bodyPr wrap="square" lIns="0" tIns="0" rIns="0" bIns="0" rtlCol="0" anchor="t"/>
          <a:lstStyle/>
          <a:p>
            <a:pPr indent="0" marL="0">
              <a:buNone/>
            </a:pPr>
            <a:r>
              <a:rPr lang="en-US" sz="3600" b="1" dirty="0">
                <a:solidFill>
                  <a:schemeClr val="accent5"/>
                </a:solidFill>
              </a:rPr>
              <a:t>3</a:t>
            </a:r>
            <a:endParaRPr lang="en-US" sz="3600" dirty="0"/>
          </a:p>
        </p:txBody>
      </p:sp>
      <p:sp>
        <p:nvSpPr>
          <p:cNvPr id="9" name="takeaway 3"/>
          <p:cNvSpPr txBox="1"/>
          <p:nvPr/>
        </p:nvSpPr>
        <p:spPr>
          <a:xfrm>
            <a:off x="1280160" y="4251960"/>
            <a:ext cx="10332720" cy="1005840"/>
          </a:xfrm>
          <a:prstGeom prst="rect">
            <a:avLst/>
          </a:prstGeom>
          <a:noFill/>
          <a:ln/>
        </p:spPr>
        <p:txBody>
          <a:bodyPr wrap="square" lIns="0" tIns="0" rIns="0" bIns="0" rtlCol="0" anchor="t"/>
          <a:lstStyle/>
          <a:p>
            <a:pPr indent="0" marL="0">
              <a:buNone/>
            </a:pPr>
            <a:r>
              <a:rPr lang="en-US" sz="1900" dirty="0">
                <a:solidFill>
                  <a:schemeClr val="bg1"/>
                </a:solidFill>
              </a:rPr>
              <a:t>The published recovery is safe with probability above 0.9 only up to about 12 ms of detection delay; detectors need 30–130 ms. Certifying the spin-up is next.</a:t>
            </a:r>
            <a:endParaRPr lang="en-US" sz="1900" dirty="0"/>
          </a:p>
        </p:txBody>
      </p:sp>
      <p:sp>
        <p:nvSpPr>
          <p:cNvPr id="10" name="questions"/>
          <p:cNvSpPr txBox="1"/>
          <p:nvPr/>
        </p:nvSpPr>
        <p:spPr>
          <a:xfrm>
            <a:off x="548640" y="5760720"/>
            <a:ext cx="5486400" cy="457200"/>
          </a:xfrm>
          <a:prstGeom prst="rect">
            <a:avLst/>
          </a:prstGeom>
          <a:noFill/>
          <a:ln/>
        </p:spPr>
        <p:txBody>
          <a:bodyPr wrap="square" lIns="0" tIns="0" rIns="0" bIns="0" rtlCol="0" anchor="t"/>
          <a:lstStyle/>
          <a:p>
            <a:pPr indent="0" marL="0">
              <a:buNone/>
            </a:pPr>
            <a:r>
              <a:rPr lang="en-US" sz="2000" dirty="0">
                <a:solidFill>
                  <a:schemeClr val="accent3"/>
                </a:solidFill>
              </a:rPr>
              <a:t>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Rotor Loss Recovery">
      <a:dk1>
        <a:srgbClr val="1E2433"/>
      </a:dk1>
      <a:lt1>
        <a:srgbClr val="FFFFFF"/>
      </a:lt1>
      <a:dk2>
        <a:srgbClr val="16233F"/>
      </a:dk2>
      <a:lt2>
        <a:srgbClr val="F2F4F8"/>
      </a:lt2>
      <a:accent1>
        <a:srgbClr val="2A62C4"/>
      </a:accent1>
      <a:accent2>
        <a:srgbClr val="B9531C"/>
      </a:accent2>
      <a:accent3>
        <a:srgbClr val="A9C4F0"/>
      </a:accent3>
      <a:accent4>
        <a:srgbClr val="E8EFFB"/>
      </a:accent4>
      <a:accent5>
        <a:srgbClr val="FBEDE5"/>
      </a:accent5>
      <a:accent6>
        <a:srgbClr val="5B6472"/>
      </a:accent6>
      <a:hlink>
        <a:srgbClr val="2A62C4"/>
      </a:hlink>
      <a:folHlink>
        <a:srgbClr val="6A4FB0"/>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Rotor Loss Recovery: Progress Review</dc:title>
  <dc:subject>PptxGenJS Presentation</dc:subject>
  <dc:creator>PptxGenJS</dc:creator>
  <cp:lastModifiedBy>PptxGenJS</cp:lastModifiedBy>
  <cp:revision>1</cp:revision>
  <dcterms:created xsi:type="dcterms:W3CDTF">2026-10-09T21:19:38Z</dcterms:created>
  <dcterms:modified xsi:type="dcterms:W3CDTF">2026-10-09T21:19:38Z</dcterms:modified>
</cp:coreProperties>
</file>